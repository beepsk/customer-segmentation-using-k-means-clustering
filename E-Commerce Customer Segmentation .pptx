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Roboto Medium"/>
      <p:regular r:id="rId20"/>
      <p:bold r:id="rId21"/>
      <p:italic r:id="rId22"/>
      <p:boldItalic r:id="rId23"/>
    </p:embeddedFont>
    <p:embeddedFont>
      <p:font typeface="Roboto"/>
      <p:regular r:id="rId24"/>
      <p:bold r:id="rId25"/>
      <p:italic r:id="rId26"/>
      <p:boldItalic r:id="rId27"/>
    </p:embeddedFont>
    <p:embeddedFont>
      <p:font typeface="Nunito"/>
      <p:regular r:id="rId28"/>
      <p:bold r:id="rId29"/>
      <p:italic r:id="rId30"/>
      <p:boldItalic r:id="rId31"/>
    </p:embeddedFont>
    <p:embeddedFont>
      <p:font typeface="Maven Pro"/>
      <p:regular r:id="rId32"/>
      <p:bold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2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20"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Medium-regular.fntdata"/><Relationship Id="rId22" Type="http://schemas.openxmlformats.org/officeDocument/2006/relationships/font" Target="fonts/RobotoMedium-italic.fntdata"/><Relationship Id="rId21" Type="http://schemas.openxmlformats.org/officeDocument/2006/relationships/font" Target="fonts/RobotoMedium-bold.fntdata"/><Relationship Id="rId24" Type="http://schemas.openxmlformats.org/officeDocument/2006/relationships/font" Target="fonts/Roboto-regular.fntdata"/><Relationship Id="rId23" Type="http://schemas.openxmlformats.org/officeDocument/2006/relationships/font" Target="fonts/RobotoMedium-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italic.fntdata"/><Relationship Id="rId25" Type="http://schemas.openxmlformats.org/officeDocument/2006/relationships/font" Target="fonts/Roboto-bold.fntdata"/><Relationship Id="rId28" Type="http://schemas.openxmlformats.org/officeDocument/2006/relationships/font" Target="fonts/Nunito-regular.fntdata"/><Relationship Id="rId27" Type="http://schemas.openxmlformats.org/officeDocument/2006/relationships/font" Target="fonts/Roboto-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Nunito-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Nunito-boldItalic.fntdata"/><Relationship Id="rId30" Type="http://schemas.openxmlformats.org/officeDocument/2006/relationships/font" Target="fonts/Nunito-italic.fntdata"/><Relationship Id="rId11" Type="http://schemas.openxmlformats.org/officeDocument/2006/relationships/slide" Target="slides/slide6.xml"/><Relationship Id="rId33" Type="http://schemas.openxmlformats.org/officeDocument/2006/relationships/font" Target="fonts/MavenPro-bold.fntdata"/><Relationship Id="rId10" Type="http://schemas.openxmlformats.org/officeDocument/2006/relationships/slide" Target="slides/slide5.xml"/><Relationship Id="rId32" Type="http://schemas.openxmlformats.org/officeDocument/2006/relationships/font" Target="fonts/MavenPro-regular.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f60b0e5b4a_0_14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f60b0e5b4a_0_1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f60b0e5b4a_0_26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f60b0e5b4a_0_26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f60b0e5b4a_0_26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f60b0e5b4a_0_26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f60b0e5b4a_0_26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f60b0e5b4a_0_26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f60b0e5b4a_0_29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3f60b0e5b4a_0_29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f60c09679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f60c09679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f60c09679c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f60c09679c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f60c09679c_0_9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f60c09679c_0_9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f60c09679c_0_9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f60c09679c_0_9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f60c09679c_0_9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f60c09679c_0_9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f60c09679c_0_9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3f60c09679c_0_9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f60c09679c_0_10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3f60c09679c_0_10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f60c09679c_0_10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3f60c09679c_0_10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1.png"/><Relationship Id="rId5" Type="http://schemas.openxmlformats.org/officeDocument/2006/relationships/image" Target="../media/image7.png"/><Relationship Id="rId6"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9.png"/><Relationship Id="rId5" Type="http://schemas.openxmlformats.org/officeDocument/2006/relationships/image" Target="../media/image12.png"/><Relationship Id="rId6"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824000" y="1613825"/>
            <a:ext cx="5384100" cy="18729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E-Commerce Customer Segmentation</a:t>
            </a:r>
            <a:endParaRPr/>
          </a:p>
        </p:txBody>
      </p:sp>
      <p:sp>
        <p:nvSpPr>
          <p:cNvPr id="278" name="Google Shape;278;p13"/>
          <p:cNvSpPr txBox="1"/>
          <p:nvPr>
            <p:ph idx="1" type="subTitle"/>
          </p:nvPr>
        </p:nvSpPr>
        <p:spPr>
          <a:xfrm>
            <a:off x="1388300" y="3486725"/>
            <a:ext cx="4255500" cy="6954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A Machine Learning Approach for Customer Behavior Analysis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ABDBD"/>
        </a:solidFill>
      </p:bgPr>
    </p:bg>
    <p:spTree>
      <p:nvGrpSpPr>
        <p:cNvPr id="282" name="Shape 282"/>
        <p:cNvGrpSpPr/>
        <p:nvPr/>
      </p:nvGrpSpPr>
      <p:grpSpPr>
        <a:xfrm>
          <a:off x="0" y="0"/>
          <a:ext cx="0" cy="0"/>
          <a:chOff x="0" y="0"/>
          <a:chExt cx="0" cy="0"/>
        </a:xfrm>
      </p:grpSpPr>
      <p:sp>
        <p:nvSpPr>
          <p:cNvPr id="283" name="Google Shape;283;p14"/>
          <p:cNvSpPr txBox="1"/>
          <p:nvPr>
            <p:ph type="title"/>
          </p:nvPr>
        </p:nvSpPr>
        <p:spPr>
          <a:xfrm>
            <a:off x="924075" y="540500"/>
            <a:ext cx="7323000" cy="558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3940">
                <a:solidFill>
                  <a:schemeClr val="lt1"/>
                </a:solidFill>
              </a:rPr>
              <a:t>Problem Statement </a:t>
            </a:r>
            <a:endParaRPr sz="3220"/>
          </a:p>
        </p:txBody>
      </p:sp>
      <p:sp>
        <p:nvSpPr>
          <p:cNvPr id="284" name="Google Shape;284;p14"/>
          <p:cNvSpPr txBox="1"/>
          <p:nvPr>
            <p:ph idx="1" type="body"/>
          </p:nvPr>
        </p:nvSpPr>
        <p:spPr>
          <a:xfrm>
            <a:off x="720975" y="1306375"/>
            <a:ext cx="4525800" cy="353430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SzPts val="935"/>
              <a:buNone/>
            </a:pPr>
            <a:r>
              <a:rPr lang="en" sz="1205">
                <a:solidFill>
                  <a:schemeClr val="lt1"/>
                </a:solidFill>
                <a:latin typeface="Calibri"/>
                <a:ea typeface="Calibri"/>
                <a:cs typeface="Calibri"/>
                <a:sym typeface="Calibri"/>
              </a:rPr>
              <a:t>E-commerce companies serve millions of customers with different purchasing behaviors. Without customer segmentation, businesses struggle to provide personalized experiences and targeted marketing</a:t>
            </a:r>
            <a:r>
              <a:rPr lang="en" sz="1205">
                <a:solidFill>
                  <a:schemeClr val="lt1"/>
                </a:solidFill>
                <a:latin typeface="Calibri"/>
                <a:ea typeface="Calibri"/>
                <a:cs typeface="Calibri"/>
                <a:sym typeface="Calibri"/>
              </a:rPr>
              <a:t>. </a:t>
            </a:r>
            <a:r>
              <a:rPr lang="en" sz="1205">
                <a:solidFill>
                  <a:schemeClr val="lt1"/>
                </a:solidFill>
                <a:latin typeface="Calibri"/>
                <a:ea typeface="Calibri"/>
                <a:cs typeface="Calibri"/>
                <a:sym typeface="Calibri"/>
              </a:rPr>
              <a:t>The objective of this project is to classify customers into meaningful groups using data analysis and machine learning techniques.</a:t>
            </a:r>
            <a:endParaRPr sz="1205">
              <a:solidFill>
                <a:schemeClr val="lt1"/>
              </a:solidFill>
              <a:latin typeface="Calibri"/>
              <a:ea typeface="Calibri"/>
              <a:cs typeface="Calibri"/>
              <a:sym typeface="Calibri"/>
            </a:endParaRPr>
          </a:p>
          <a:p>
            <a:pPr indent="0" lvl="0" marL="0" rtl="0" algn="l">
              <a:lnSpc>
                <a:spcPct val="90000"/>
              </a:lnSpc>
              <a:spcBef>
                <a:spcPts val="1200"/>
              </a:spcBef>
              <a:spcAft>
                <a:spcPts val="0"/>
              </a:spcAft>
              <a:buSzPts val="935"/>
              <a:buNone/>
            </a:pPr>
            <a:r>
              <a:rPr lang="en" sz="1205">
                <a:solidFill>
                  <a:schemeClr val="lt1"/>
                </a:solidFill>
                <a:latin typeface="Calibri"/>
                <a:ea typeface="Calibri"/>
                <a:cs typeface="Calibri"/>
                <a:sym typeface="Calibri"/>
              </a:rPr>
              <a:t>Machine learning is an up-and-coming tool that has become invaluable for Customer Segmentation. As it allows businesses to identify hidden patterns without any help from predefined labels, it has become increasingly popular. One of the most sought-after ML methods is K-Means ClusterIng.</a:t>
            </a:r>
            <a:endParaRPr sz="1205">
              <a:solidFill>
                <a:schemeClr val="lt1"/>
              </a:solidFill>
              <a:latin typeface="Calibri"/>
              <a:ea typeface="Calibri"/>
              <a:cs typeface="Calibri"/>
              <a:sym typeface="Calibri"/>
            </a:endParaRPr>
          </a:p>
          <a:p>
            <a:pPr indent="0" lvl="0" marL="0" rtl="0" algn="l">
              <a:lnSpc>
                <a:spcPct val="90000"/>
              </a:lnSpc>
              <a:spcBef>
                <a:spcPts val="1200"/>
              </a:spcBef>
              <a:spcAft>
                <a:spcPts val="1200"/>
              </a:spcAft>
              <a:buSzPts val="935"/>
              <a:buNone/>
            </a:pPr>
            <a:r>
              <a:rPr lang="en" sz="1205">
                <a:solidFill>
                  <a:schemeClr val="lt1"/>
                </a:solidFill>
                <a:latin typeface="Calibri"/>
                <a:ea typeface="Calibri"/>
                <a:cs typeface="Calibri"/>
                <a:sym typeface="Calibri"/>
              </a:rPr>
              <a:t>K-Means Clustering has been used in this project to analyze consumer data and study demographic and spending-related attributes such as age, annual income, and spending score. I have also made use of other methods like data processing, EDA, feature scaling, clustering, and visualization of customer segments. Finally, an interactive dashboard has been developed using Streamlit that allows users to explore the dataset and clustering results in a user-friendly manner. </a:t>
            </a:r>
            <a:endParaRPr sz="1205">
              <a:solidFill>
                <a:schemeClr val="lt1"/>
              </a:solidFill>
              <a:latin typeface="Calibri"/>
              <a:ea typeface="Calibri"/>
              <a:cs typeface="Calibri"/>
              <a:sym typeface="Calibri"/>
            </a:endParaRPr>
          </a:p>
        </p:txBody>
      </p:sp>
      <p:grpSp>
        <p:nvGrpSpPr>
          <p:cNvPr id="285" name="Google Shape;285;p14"/>
          <p:cNvGrpSpPr/>
          <p:nvPr/>
        </p:nvGrpSpPr>
        <p:grpSpPr>
          <a:xfrm>
            <a:off x="6125932" y="1372312"/>
            <a:ext cx="2121147" cy="3178009"/>
            <a:chOff x="5989450" y="1307675"/>
            <a:chExt cx="2257500" cy="3382300"/>
          </a:xfrm>
        </p:grpSpPr>
        <p:sp>
          <p:nvSpPr>
            <p:cNvPr id="286" name="Google Shape;286;p14"/>
            <p:cNvSpPr/>
            <p:nvPr/>
          </p:nvSpPr>
          <p:spPr>
            <a:xfrm>
              <a:off x="5989450" y="1307675"/>
              <a:ext cx="2257500" cy="558000"/>
            </a:xfrm>
            <a:prstGeom prst="roundRect">
              <a:avLst>
                <a:gd fmla="val 16667" name="adj"/>
              </a:avLst>
            </a:prstGeom>
            <a:solidFill>
              <a:schemeClr val="lt2"/>
            </a:solidFill>
            <a:ln cap="flat" cmpd="sng" w="8950">
              <a:solidFill>
                <a:schemeClr val="dk2"/>
              </a:solidFill>
              <a:prstDash val="solid"/>
              <a:round/>
              <a:headEnd len="sm" w="sm" type="none"/>
              <a:tailEnd len="sm" w="sm" type="none"/>
            </a:ln>
          </p:spPr>
          <p:txBody>
            <a:bodyPr anchorCtr="0" anchor="ctr" bIns="85900" lIns="85900" spcFirstLastPara="1" rIns="85900" wrap="square" tIns="85900">
              <a:noAutofit/>
            </a:bodyPr>
            <a:lstStyle/>
            <a:p>
              <a:pPr indent="0" lvl="0" marL="0" rtl="0" algn="ctr">
                <a:spcBef>
                  <a:spcPts val="0"/>
                </a:spcBef>
                <a:spcAft>
                  <a:spcPts val="0"/>
                </a:spcAft>
                <a:buNone/>
              </a:pPr>
              <a:r>
                <a:rPr lang="en" sz="1315">
                  <a:latin typeface="Nunito"/>
                  <a:ea typeface="Nunito"/>
                  <a:cs typeface="Nunito"/>
                  <a:sym typeface="Nunito"/>
                </a:rPr>
                <a:t>Customer Data</a:t>
              </a:r>
              <a:endParaRPr sz="1315">
                <a:latin typeface="Nunito"/>
                <a:ea typeface="Nunito"/>
                <a:cs typeface="Nunito"/>
                <a:sym typeface="Nunito"/>
              </a:endParaRPr>
            </a:p>
          </p:txBody>
        </p:sp>
        <p:sp>
          <p:nvSpPr>
            <p:cNvPr id="287" name="Google Shape;287;p14"/>
            <p:cNvSpPr/>
            <p:nvPr/>
          </p:nvSpPr>
          <p:spPr>
            <a:xfrm>
              <a:off x="5989450" y="2013750"/>
              <a:ext cx="2257500" cy="558000"/>
            </a:xfrm>
            <a:prstGeom prst="roundRect">
              <a:avLst>
                <a:gd fmla="val 16667" name="adj"/>
              </a:avLst>
            </a:prstGeom>
            <a:solidFill>
              <a:schemeClr val="lt2"/>
            </a:solidFill>
            <a:ln cap="flat" cmpd="sng" w="8950">
              <a:solidFill>
                <a:schemeClr val="dk2"/>
              </a:solidFill>
              <a:prstDash val="solid"/>
              <a:round/>
              <a:headEnd len="sm" w="sm" type="none"/>
              <a:tailEnd len="sm" w="sm" type="none"/>
            </a:ln>
          </p:spPr>
          <p:txBody>
            <a:bodyPr anchorCtr="0" anchor="ctr" bIns="85900" lIns="85900" spcFirstLastPara="1" rIns="85900" wrap="square" tIns="85900">
              <a:noAutofit/>
            </a:bodyPr>
            <a:lstStyle/>
            <a:p>
              <a:pPr indent="0" lvl="0" marL="0" rtl="0" algn="ctr">
                <a:spcBef>
                  <a:spcPts val="0"/>
                </a:spcBef>
                <a:spcAft>
                  <a:spcPts val="0"/>
                </a:spcAft>
                <a:buNone/>
              </a:pPr>
              <a:r>
                <a:rPr lang="en" sz="1315">
                  <a:latin typeface="Nunito"/>
                  <a:ea typeface="Nunito"/>
                  <a:cs typeface="Nunito"/>
                  <a:sym typeface="Nunito"/>
                </a:rPr>
                <a:t>Different Behaviours</a:t>
              </a:r>
              <a:endParaRPr sz="1315">
                <a:latin typeface="Nunito"/>
                <a:ea typeface="Nunito"/>
                <a:cs typeface="Nunito"/>
                <a:sym typeface="Nunito"/>
              </a:endParaRPr>
            </a:p>
          </p:txBody>
        </p:sp>
        <p:sp>
          <p:nvSpPr>
            <p:cNvPr id="288" name="Google Shape;288;p14"/>
            <p:cNvSpPr/>
            <p:nvPr/>
          </p:nvSpPr>
          <p:spPr>
            <a:xfrm>
              <a:off x="5989450" y="2719825"/>
              <a:ext cx="2257500" cy="558000"/>
            </a:xfrm>
            <a:prstGeom prst="roundRect">
              <a:avLst>
                <a:gd fmla="val 16667" name="adj"/>
              </a:avLst>
            </a:prstGeom>
            <a:solidFill>
              <a:schemeClr val="lt2"/>
            </a:solidFill>
            <a:ln cap="flat" cmpd="sng" w="8950">
              <a:solidFill>
                <a:schemeClr val="dk2"/>
              </a:solidFill>
              <a:prstDash val="solid"/>
              <a:round/>
              <a:headEnd len="sm" w="sm" type="none"/>
              <a:tailEnd len="sm" w="sm" type="none"/>
            </a:ln>
          </p:spPr>
          <p:txBody>
            <a:bodyPr anchorCtr="0" anchor="ctr" bIns="85900" lIns="85900" spcFirstLastPara="1" rIns="85900" wrap="square" tIns="85900">
              <a:noAutofit/>
            </a:bodyPr>
            <a:lstStyle/>
            <a:p>
              <a:pPr indent="0" lvl="0" marL="0" rtl="0" algn="ctr">
                <a:spcBef>
                  <a:spcPts val="0"/>
                </a:spcBef>
                <a:spcAft>
                  <a:spcPts val="0"/>
                </a:spcAft>
                <a:buNone/>
              </a:pPr>
              <a:r>
                <a:rPr lang="en" sz="1315">
                  <a:latin typeface="Nunito"/>
                  <a:ea typeface="Nunito"/>
                  <a:cs typeface="Nunito"/>
                  <a:sym typeface="Nunito"/>
                </a:rPr>
                <a:t>Need Segmentation</a:t>
              </a:r>
              <a:endParaRPr sz="1315">
                <a:latin typeface="Nunito"/>
                <a:ea typeface="Nunito"/>
                <a:cs typeface="Nunito"/>
                <a:sym typeface="Nunito"/>
              </a:endParaRPr>
            </a:p>
          </p:txBody>
        </p:sp>
        <p:sp>
          <p:nvSpPr>
            <p:cNvPr id="289" name="Google Shape;289;p14"/>
            <p:cNvSpPr/>
            <p:nvPr/>
          </p:nvSpPr>
          <p:spPr>
            <a:xfrm>
              <a:off x="5989450" y="3425900"/>
              <a:ext cx="2257500" cy="558000"/>
            </a:xfrm>
            <a:prstGeom prst="roundRect">
              <a:avLst>
                <a:gd fmla="val 16667" name="adj"/>
              </a:avLst>
            </a:prstGeom>
            <a:solidFill>
              <a:schemeClr val="lt2"/>
            </a:solidFill>
            <a:ln cap="flat" cmpd="sng" w="8950">
              <a:solidFill>
                <a:schemeClr val="dk2"/>
              </a:solidFill>
              <a:prstDash val="solid"/>
              <a:round/>
              <a:headEnd len="sm" w="sm" type="none"/>
              <a:tailEnd len="sm" w="sm" type="none"/>
            </a:ln>
          </p:spPr>
          <p:txBody>
            <a:bodyPr anchorCtr="0" anchor="ctr" bIns="85900" lIns="85900" spcFirstLastPara="1" rIns="85900" wrap="square" tIns="85900">
              <a:noAutofit/>
            </a:bodyPr>
            <a:lstStyle/>
            <a:p>
              <a:pPr indent="0" lvl="0" marL="0" rtl="0" algn="ctr">
                <a:spcBef>
                  <a:spcPts val="0"/>
                </a:spcBef>
                <a:spcAft>
                  <a:spcPts val="0"/>
                </a:spcAft>
                <a:buNone/>
              </a:pPr>
              <a:r>
                <a:rPr lang="en" sz="1315">
                  <a:latin typeface="Nunito"/>
                  <a:ea typeface="Nunito"/>
                  <a:cs typeface="Nunito"/>
                  <a:sym typeface="Nunito"/>
                </a:rPr>
                <a:t>K-Means Clustering</a:t>
              </a:r>
              <a:endParaRPr sz="1315">
                <a:latin typeface="Nunito"/>
                <a:ea typeface="Nunito"/>
                <a:cs typeface="Nunito"/>
                <a:sym typeface="Nunito"/>
              </a:endParaRPr>
            </a:p>
          </p:txBody>
        </p:sp>
        <p:sp>
          <p:nvSpPr>
            <p:cNvPr id="290" name="Google Shape;290;p14"/>
            <p:cNvSpPr/>
            <p:nvPr/>
          </p:nvSpPr>
          <p:spPr>
            <a:xfrm>
              <a:off x="5989450" y="4131975"/>
              <a:ext cx="2257500" cy="558000"/>
            </a:xfrm>
            <a:prstGeom prst="roundRect">
              <a:avLst>
                <a:gd fmla="val 16667" name="adj"/>
              </a:avLst>
            </a:prstGeom>
            <a:solidFill>
              <a:schemeClr val="lt2"/>
            </a:solidFill>
            <a:ln cap="flat" cmpd="sng" w="8950">
              <a:solidFill>
                <a:schemeClr val="dk2"/>
              </a:solidFill>
              <a:prstDash val="solid"/>
              <a:round/>
              <a:headEnd len="sm" w="sm" type="none"/>
              <a:tailEnd len="sm" w="sm" type="none"/>
            </a:ln>
          </p:spPr>
          <p:txBody>
            <a:bodyPr anchorCtr="0" anchor="ctr" bIns="85900" lIns="85900" spcFirstLastPara="1" rIns="85900" wrap="square" tIns="85900">
              <a:noAutofit/>
            </a:bodyPr>
            <a:lstStyle/>
            <a:p>
              <a:pPr indent="0" lvl="0" marL="0" rtl="0" algn="ctr">
                <a:spcBef>
                  <a:spcPts val="0"/>
                </a:spcBef>
                <a:spcAft>
                  <a:spcPts val="0"/>
                </a:spcAft>
                <a:buNone/>
              </a:pPr>
              <a:r>
                <a:rPr lang="en" sz="1315">
                  <a:latin typeface="Nunito"/>
                  <a:ea typeface="Nunito"/>
                  <a:cs typeface="Nunito"/>
                  <a:sym typeface="Nunito"/>
                </a:rPr>
                <a:t>Business Decisions</a:t>
              </a:r>
              <a:endParaRPr sz="1315">
                <a:latin typeface="Nunito"/>
                <a:ea typeface="Nunito"/>
                <a:cs typeface="Nunito"/>
                <a:sym typeface="Nunito"/>
              </a:endParaRPr>
            </a:p>
          </p:txBody>
        </p:sp>
      </p:grpSp>
      <p:cxnSp>
        <p:nvCxnSpPr>
          <p:cNvPr id="291" name="Google Shape;291;p14"/>
          <p:cNvCxnSpPr>
            <a:stCxn id="286" idx="2"/>
            <a:endCxn id="287" idx="0"/>
          </p:cNvCxnSpPr>
          <p:nvPr/>
        </p:nvCxnSpPr>
        <p:spPr>
          <a:xfrm>
            <a:off x="7186506" y="1896608"/>
            <a:ext cx="0" cy="139200"/>
          </a:xfrm>
          <a:prstGeom prst="straightConnector1">
            <a:avLst/>
          </a:prstGeom>
          <a:noFill/>
          <a:ln cap="flat" cmpd="sng" w="9525">
            <a:solidFill>
              <a:schemeClr val="dk2"/>
            </a:solidFill>
            <a:prstDash val="solid"/>
            <a:round/>
            <a:headEnd len="med" w="med" type="none"/>
            <a:tailEnd len="med" w="med" type="triangle"/>
          </a:ln>
        </p:spPr>
      </p:cxnSp>
      <p:cxnSp>
        <p:nvCxnSpPr>
          <p:cNvPr id="292" name="Google Shape;292;p14"/>
          <p:cNvCxnSpPr>
            <a:stCxn id="287" idx="2"/>
            <a:endCxn id="288" idx="0"/>
          </p:cNvCxnSpPr>
          <p:nvPr/>
        </p:nvCxnSpPr>
        <p:spPr>
          <a:xfrm>
            <a:off x="7186506" y="2560036"/>
            <a:ext cx="0" cy="139200"/>
          </a:xfrm>
          <a:prstGeom prst="straightConnector1">
            <a:avLst/>
          </a:prstGeom>
          <a:noFill/>
          <a:ln cap="flat" cmpd="sng" w="9525">
            <a:solidFill>
              <a:schemeClr val="dk2"/>
            </a:solidFill>
            <a:prstDash val="solid"/>
            <a:round/>
            <a:headEnd len="med" w="med" type="none"/>
            <a:tailEnd len="med" w="med" type="triangle"/>
          </a:ln>
        </p:spPr>
      </p:cxnSp>
      <p:cxnSp>
        <p:nvCxnSpPr>
          <p:cNvPr id="293" name="Google Shape;293;p14"/>
          <p:cNvCxnSpPr>
            <a:stCxn id="288" idx="2"/>
            <a:endCxn id="289" idx="0"/>
          </p:cNvCxnSpPr>
          <p:nvPr/>
        </p:nvCxnSpPr>
        <p:spPr>
          <a:xfrm>
            <a:off x="7186506" y="3223464"/>
            <a:ext cx="0" cy="139200"/>
          </a:xfrm>
          <a:prstGeom prst="straightConnector1">
            <a:avLst/>
          </a:prstGeom>
          <a:noFill/>
          <a:ln cap="flat" cmpd="sng" w="9525">
            <a:solidFill>
              <a:schemeClr val="dk2"/>
            </a:solidFill>
            <a:prstDash val="solid"/>
            <a:round/>
            <a:headEnd len="med" w="med" type="none"/>
            <a:tailEnd len="med" w="med" type="triangle"/>
          </a:ln>
        </p:spPr>
      </p:cxnSp>
      <p:cxnSp>
        <p:nvCxnSpPr>
          <p:cNvPr id="294" name="Google Shape;294;p14"/>
          <p:cNvCxnSpPr>
            <a:stCxn id="289" idx="2"/>
            <a:endCxn id="290" idx="0"/>
          </p:cNvCxnSpPr>
          <p:nvPr/>
        </p:nvCxnSpPr>
        <p:spPr>
          <a:xfrm>
            <a:off x="7186506" y="3886893"/>
            <a:ext cx="0" cy="1392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ABDBD"/>
        </a:solidFill>
      </p:bgPr>
    </p:bg>
    <p:spTree>
      <p:nvGrpSpPr>
        <p:cNvPr id="298" name="Shape 298"/>
        <p:cNvGrpSpPr/>
        <p:nvPr/>
      </p:nvGrpSpPr>
      <p:grpSpPr>
        <a:xfrm>
          <a:off x="0" y="0"/>
          <a:ext cx="0" cy="0"/>
          <a:chOff x="0" y="0"/>
          <a:chExt cx="0" cy="0"/>
        </a:xfrm>
      </p:grpSpPr>
      <p:sp>
        <p:nvSpPr>
          <p:cNvPr id="299" name="Google Shape;299;p15"/>
          <p:cNvSpPr txBox="1"/>
          <p:nvPr>
            <p:ph type="title"/>
          </p:nvPr>
        </p:nvSpPr>
        <p:spPr>
          <a:xfrm>
            <a:off x="910500" y="503850"/>
            <a:ext cx="7323000" cy="558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3940">
                <a:solidFill>
                  <a:schemeClr val="lt1"/>
                </a:solidFill>
              </a:rPr>
              <a:t>Objectives</a:t>
            </a:r>
            <a:endParaRPr sz="3220"/>
          </a:p>
        </p:txBody>
      </p:sp>
      <p:sp>
        <p:nvSpPr>
          <p:cNvPr id="300" name="Google Shape;300;p15"/>
          <p:cNvSpPr txBox="1"/>
          <p:nvPr>
            <p:ph idx="1" type="body"/>
          </p:nvPr>
        </p:nvSpPr>
        <p:spPr>
          <a:xfrm>
            <a:off x="3811825" y="1194150"/>
            <a:ext cx="4872300" cy="3534300"/>
          </a:xfrm>
          <a:prstGeom prst="rect">
            <a:avLst/>
          </a:prstGeom>
        </p:spPr>
        <p:txBody>
          <a:bodyPr anchorCtr="0" anchor="t" bIns="91425" lIns="91425" spcFirstLastPara="1" rIns="91425" wrap="square" tIns="91425">
            <a:noAutofit/>
          </a:bodyPr>
          <a:lstStyle/>
          <a:p>
            <a:pPr indent="-374650" lvl="0" marL="457200" rtl="0" algn="l">
              <a:lnSpc>
                <a:spcPct val="90000"/>
              </a:lnSpc>
              <a:spcBef>
                <a:spcPts val="0"/>
              </a:spcBef>
              <a:spcAft>
                <a:spcPts val="0"/>
              </a:spcAft>
              <a:buClr>
                <a:schemeClr val="lt1"/>
              </a:buClr>
              <a:buSzPts val="2300"/>
              <a:buFont typeface="Calibri"/>
              <a:buChar char="●"/>
            </a:pPr>
            <a:r>
              <a:rPr lang="en" sz="2300">
                <a:solidFill>
                  <a:schemeClr val="lt1"/>
                </a:solidFill>
                <a:latin typeface="Calibri"/>
                <a:ea typeface="Calibri"/>
                <a:cs typeface="Calibri"/>
                <a:sym typeface="Calibri"/>
              </a:rPr>
              <a:t>Analyze customer purchasing behaviour </a:t>
            </a:r>
            <a:endParaRPr sz="2300">
              <a:solidFill>
                <a:schemeClr val="lt1"/>
              </a:solidFill>
              <a:latin typeface="Calibri"/>
              <a:ea typeface="Calibri"/>
              <a:cs typeface="Calibri"/>
              <a:sym typeface="Calibri"/>
            </a:endParaRPr>
          </a:p>
          <a:p>
            <a:pPr indent="-374650" lvl="0" marL="457200" rtl="0" algn="l">
              <a:lnSpc>
                <a:spcPct val="90000"/>
              </a:lnSpc>
              <a:spcBef>
                <a:spcPts val="0"/>
              </a:spcBef>
              <a:spcAft>
                <a:spcPts val="0"/>
              </a:spcAft>
              <a:buClr>
                <a:schemeClr val="lt1"/>
              </a:buClr>
              <a:buSzPts val="2300"/>
              <a:buFont typeface="Calibri"/>
              <a:buChar char="●"/>
            </a:pPr>
            <a:r>
              <a:rPr lang="en" sz="2300">
                <a:solidFill>
                  <a:schemeClr val="lt1"/>
                </a:solidFill>
                <a:latin typeface="Calibri"/>
                <a:ea typeface="Calibri"/>
                <a:cs typeface="Calibri"/>
                <a:sym typeface="Calibri"/>
              </a:rPr>
              <a:t>Preprocess and clean the dataset </a:t>
            </a:r>
            <a:endParaRPr sz="2300">
              <a:solidFill>
                <a:schemeClr val="lt1"/>
              </a:solidFill>
              <a:latin typeface="Calibri"/>
              <a:ea typeface="Calibri"/>
              <a:cs typeface="Calibri"/>
              <a:sym typeface="Calibri"/>
            </a:endParaRPr>
          </a:p>
          <a:p>
            <a:pPr indent="-374650" lvl="0" marL="457200" rtl="0" algn="l">
              <a:lnSpc>
                <a:spcPct val="90000"/>
              </a:lnSpc>
              <a:spcBef>
                <a:spcPts val="0"/>
              </a:spcBef>
              <a:spcAft>
                <a:spcPts val="0"/>
              </a:spcAft>
              <a:buClr>
                <a:schemeClr val="lt1"/>
              </a:buClr>
              <a:buSzPts val="2300"/>
              <a:buFont typeface="Calibri"/>
              <a:buChar char="●"/>
            </a:pPr>
            <a:r>
              <a:rPr lang="en" sz="2300">
                <a:solidFill>
                  <a:schemeClr val="lt1"/>
                </a:solidFill>
                <a:latin typeface="Calibri"/>
                <a:ea typeface="Calibri"/>
                <a:cs typeface="Calibri"/>
                <a:sym typeface="Calibri"/>
              </a:rPr>
              <a:t>Perform Exploratory Data Analysis (EDA) </a:t>
            </a:r>
            <a:endParaRPr sz="2300">
              <a:solidFill>
                <a:schemeClr val="lt1"/>
              </a:solidFill>
              <a:latin typeface="Calibri"/>
              <a:ea typeface="Calibri"/>
              <a:cs typeface="Calibri"/>
              <a:sym typeface="Calibri"/>
            </a:endParaRPr>
          </a:p>
          <a:p>
            <a:pPr indent="-374650" lvl="0" marL="457200" rtl="0" algn="l">
              <a:lnSpc>
                <a:spcPct val="90000"/>
              </a:lnSpc>
              <a:spcBef>
                <a:spcPts val="0"/>
              </a:spcBef>
              <a:spcAft>
                <a:spcPts val="0"/>
              </a:spcAft>
              <a:buClr>
                <a:schemeClr val="lt1"/>
              </a:buClr>
              <a:buSzPts val="2300"/>
              <a:buFont typeface="Calibri"/>
              <a:buChar char="●"/>
            </a:pPr>
            <a:r>
              <a:rPr lang="en" sz="2300">
                <a:solidFill>
                  <a:schemeClr val="lt1"/>
                </a:solidFill>
                <a:latin typeface="Calibri"/>
                <a:ea typeface="Calibri"/>
                <a:cs typeface="Calibri"/>
                <a:sym typeface="Calibri"/>
              </a:rPr>
              <a:t>Apply K-Means clustering </a:t>
            </a:r>
            <a:endParaRPr sz="2300">
              <a:solidFill>
                <a:schemeClr val="lt1"/>
              </a:solidFill>
              <a:latin typeface="Calibri"/>
              <a:ea typeface="Calibri"/>
              <a:cs typeface="Calibri"/>
              <a:sym typeface="Calibri"/>
            </a:endParaRPr>
          </a:p>
          <a:p>
            <a:pPr indent="-374650" lvl="0" marL="457200" rtl="0" algn="l">
              <a:lnSpc>
                <a:spcPct val="90000"/>
              </a:lnSpc>
              <a:spcBef>
                <a:spcPts val="0"/>
              </a:spcBef>
              <a:spcAft>
                <a:spcPts val="0"/>
              </a:spcAft>
              <a:buClr>
                <a:schemeClr val="lt1"/>
              </a:buClr>
              <a:buSzPts val="2300"/>
              <a:buFont typeface="Calibri"/>
              <a:buChar char="●"/>
            </a:pPr>
            <a:r>
              <a:rPr lang="en" sz="2300">
                <a:solidFill>
                  <a:schemeClr val="lt1"/>
                </a:solidFill>
                <a:latin typeface="Calibri"/>
                <a:ea typeface="Calibri"/>
                <a:cs typeface="Calibri"/>
                <a:sym typeface="Calibri"/>
              </a:rPr>
              <a:t>Develop an interactive Streamlit dashboard </a:t>
            </a:r>
            <a:endParaRPr sz="2300">
              <a:solidFill>
                <a:schemeClr val="lt1"/>
              </a:solidFill>
              <a:latin typeface="Calibri"/>
              <a:ea typeface="Calibri"/>
              <a:cs typeface="Calibri"/>
              <a:sym typeface="Calibri"/>
            </a:endParaRPr>
          </a:p>
          <a:p>
            <a:pPr indent="-374650" lvl="0" marL="457200" rtl="0" algn="l">
              <a:lnSpc>
                <a:spcPct val="90000"/>
              </a:lnSpc>
              <a:spcBef>
                <a:spcPts val="0"/>
              </a:spcBef>
              <a:spcAft>
                <a:spcPts val="0"/>
              </a:spcAft>
              <a:buClr>
                <a:schemeClr val="lt1"/>
              </a:buClr>
              <a:buSzPts val="2300"/>
              <a:buFont typeface="Calibri"/>
              <a:buChar char="●"/>
            </a:pPr>
            <a:r>
              <a:rPr lang="en" sz="2300">
                <a:solidFill>
                  <a:schemeClr val="lt1"/>
                </a:solidFill>
                <a:latin typeface="Calibri"/>
                <a:ea typeface="Calibri"/>
                <a:cs typeface="Calibri"/>
                <a:sym typeface="Calibri"/>
              </a:rPr>
              <a:t>Generate business insights for decision-making </a:t>
            </a:r>
            <a:endParaRPr sz="2300">
              <a:solidFill>
                <a:schemeClr val="lt1"/>
              </a:solidFill>
              <a:latin typeface="Calibri"/>
              <a:ea typeface="Calibri"/>
              <a:cs typeface="Calibri"/>
              <a:sym typeface="Calibri"/>
            </a:endParaRPr>
          </a:p>
        </p:txBody>
      </p:sp>
      <p:pic>
        <p:nvPicPr>
          <p:cNvPr descr="a robotic hand is pointing at a globe with the words data science written on it (Provided by Tenor)" id="301" name="Google Shape;301;p15"/>
          <p:cNvPicPr preferRelativeResize="0"/>
          <p:nvPr/>
        </p:nvPicPr>
        <p:blipFill>
          <a:blip r:embed="rId3">
            <a:alphaModFix/>
          </a:blip>
          <a:stretch>
            <a:fillRect/>
          </a:stretch>
        </p:blipFill>
        <p:spPr>
          <a:xfrm>
            <a:off x="587950" y="1432275"/>
            <a:ext cx="3223875" cy="28309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ABDBD"/>
        </a:solidFill>
      </p:bgPr>
    </p:bg>
    <p:spTree>
      <p:nvGrpSpPr>
        <p:cNvPr id="305" name="Shape 305"/>
        <p:cNvGrpSpPr/>
        <p:nvPr/>
      </p:nvGrpSpPr>
      <p:grpSpPr>
        <a:xfrm>
          <a:off x="0" y="0"/>
          <a:ext cx="0" cy="0"/>
          <a:chOff x="0" y="0"/>
          <a:chExt cx="0" cy="0"/>
        </a:xfrm>
      </p:grpSpPr>
      <p:sp>
        <p:nvSpPr>
          <p:cNvPr id="306" name="Google Shape;306;p16"/>
          <p:cNvSpPr txBox="1"/>
          <p:nvPr>
            <p:ph type="title"/>
          </p:nvPr>
        </p:nvSpPr>
        <p:spPr>
          <a:xfrm>
            <a:off x="910500" y="503850"/>
            <a:ext cx="7323000" cy="558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3940">
                <a:solidFill>
                  <a:schemeClr val="lt1"/>
                </a:solidFill>
              </a:rPr>
              <a:t>Dataset Description</a:t>
            </a:r>
            <a:endParaRPr sz="3220"/>
          </a:p>
        </p:txBody>
      </p:sp>
      <p:sp>
        <p:nvSpPr>
          <p:cNvPr id="307" name="Google Shape;307;p16"/>
          <p:cNvSpPr txBox="1"/>
          <p:nvPr>
            <p:ph idx="1" type="body"/>
          </p:nvPr>
        </p:nvSpPr>
        <p:spPr>
          <a:xfrm>
            <a:off x="910500" y="1194150"/>
            <a:ext cx="7773600" cy="353430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 sz="1600">
                <a:solidFill>
                  <a:schemeClr val="lt1"/>
                </a:solidFill>
                <a:latin typeface="Calibri"/>
                <a:ea typeface="Calibri"/>
                <a:cs typeface="Calibri"/>
                <a:sym typeface="Calibri"/>
              </a:rPr>
              <a:t>Source of the Data: </a:t>
            </a:r>
            <a:r>
              <a:rPr lang="en" sz="1600">
                <a:solidFill>
                  <a:schemeClr val="lt1"/>
                </a:solidFill>
                <a:latin typeface="Calibri"/>
                <a:ea typeface="Calibri"/>
                <a:cs typeface="Calibri"/>
                <a:sym typeface="Calibri"/>
              </a:rPr>
              <a:t>For this project, I have used a dataset available on Kaggle titled store_customers.csv. This is a dataset commonly used for Customer Segmentation and clustering which makes it a good fit for the project. It includes all important demographic and spending-related information of the customers at the mall.</a:t>
            </a:r>
            <a:endParaRPr sz="1600">
              <a:solidFill>
                <a:schemeClr val="lt1"/>
              </a:solidFill>
              <a:latin typeface="Calibri"/>
              <a:ea typeface="Calibri"/>
              <a:cs typeface="Calibri"/>
              <a:sym typeface="Calibri"/>
            </a:endParaRPr>
          </a:p>
          <a:p>
            <a:pPr indent="0" lvl="0" marL="457200" rtl="0" algn="l">
              <a:lnSpc>
                <a:spcPct val="90000"/>
              </a:lnSpc>
              <a:spcBef>
                <a:spcPts val="1200"/>
              </a:spcBef>
              <a:spcAft>
                <a:spcPts val="1200"/>
              </a:spcAft>
              <a:buNone/>
            </a:pPr>
            <a:r>
              <a:t/>
            </a:r>
            <a:endParaRPr sz="2300">
              <a:solidFill>
                <a:schemeClr val="lt1"/>
              </a:solidFill>
              <a:latin typeface="Calibri"/>
              <a:ea typeface="Calibri"/>
              <a:cs typeface="Calibri"/>
              <a:sym typeface="Calibri"/>
            </a:endParaRPr>
          </a:p>
        </p:txBody>
      </p:sp>
      <p:pic>
        <p:nvPicPr>
          <p:cNvPr id="308" name="Google Shape;308;p16"/>
          <p:cNvPicPr preferRelativeResize="0"/>
          <p:nvPr/>
        </p:nvPicPr>
        <p:blipFill>
          <a:blip r:embed="rId3">
            <a:alphaModFix/>
          </a:blip>
          <a:stretch>
            <a:fillRect/>
          </a:stretch>
        </p:blipFill>
        <p:spPr>
          <a:xfrm>
            <a:off x="1981650" y="2347050"/>
            <a:ext cx="5631299" cy="22693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ABDBD"/>
        </a:solidFill>
      </p:bgPr>
    </p:bg>
    <p:spTree>
      <p:nvGrpSpPr>
        <p:cNvPr id="312" name="Shape 312"/>
        <p:cNvGrpSpPr/>
        <p:nvPr/>
      </p:nvGrpSpPr>
      <p:grpSpPr>
        <a:xfrm>
          <a:off x="0" y="0"/>
          <a:ext cx="0" cy="0"/>
          <a:chOff x="0" y="0"/>
          <a:chExt cx="0" cy="0"/>
        </a:xfrm>
      </p:grpSpPr>
      <p:sp>
        <p:nvSpPr>
          <p:cNvPr id="313" name="Google Shape;313;p17"/>
          <p:cNvSpPr txBox="1"/>
          <p:nvPr>
            <p:ph type="title"/>
          </p:nvPr>
        </p:nvSpPr>
        <p:spPr>
          <a:xfrm>
            <a:off x="910500" y="273825"/>
            <a:ext cx="7323000" cy="558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3940">
                <a:solidFill>
                  <a:schemeClr val="lt1"/>
                </a:solidFill>
              </a:rPr>
              <a:t>Dataset Management</a:t>
            </a:r>
            <a:endParaRPr sz="3220"/>
          </a:p>
        </p:txBody>
      </p:sp>
      <p:grpSp>
        <p:nvGrpSpPr>
          <p:cNvPr id="314" name="Google Shape;314;p17"/>
          <p:cNvGrpSpPr/>
          <p:nvPr/>
        </p:nvGrpSpPr>
        <p:grpSpPr>
          <a:xfrm>
            <a:off x="834373" y="957140"/>
            <a:ext cx="7475246" cy="3730551"/>
            <a:chOff x="122102" y="438800"/>
            <a:chExt cx="8548023" cy="4265925"/>
          </a:xfrm>
        </p:grpSpPr>
        <p:grpSp>
          <p:nvGrpSpPr>
            <p:cNvPr id="315" name="Google Shape;315;p17"/>
            <p:cNvGrpSpPr/>
            <p:nvPr/>
          </p:nvGrpSpPr>
          <p:grpSpPr>
            <a:xfrm>
              <a:off x="454801" y="438800"/>
              <a:ext cx="8215324" cy="731700"/>
              <a:chOff x="454801" y="438800"/>
              <a:chExt cx="8215324" cy="731700"/>
            </a:xfrm>
          </p:grpSpPr>
          <p:sp>
            <p:nvSpPr>
              <p:cNvPr id="316" name="Google Shape;316;p17"/>
              <p:cNvSpPr txBox="1"/>
              <p:nvPr/>
            </p:nvSpPr>
            <p:spPr>
              <a:xfrm>
                <a:off x="454801" y="484950"/>
                <a:ext cx="1831800" cy="629700"/>
              </a:xfrm>
              <a:prstGeom prst="rect">
                <a:avLst/>
              </a:prstGeom>
              <a:noFill/>
              <a:ln>
                <a:noFill/>
              </a:ln>
            </p:spPr>
            <p:txBody>
              <a:bodyPr anchorCtr="0" anchor="ctr" bIns="39950" lIns="79975" spcFirstLastPara="1" rIns="79975" wrap="square" tIns="39950">
                <a:noAutofit/>
              </a:bodyPr>
              <a:lstStyle/>
              <a:p>
                <a:pPr indent="0" lvl="0" marL="0" rtl="0" algn="r">
                  <a:lnSpc>
                    <a:spcPct val="90000"/>
                  </a:lnSpc>
                  <a:spcBef>
                    <a:spcPts val="0"/>
                  </a:spcBef>
                  <a:spcAft>
                    <a:spcPts val="0"/>
                  </a:spcAft>
                  <a:buNone/>
                </a:pPr>
                <a:r>
                  <a:rPr lang="en" sz="2449">
                    <a:solidFill>
                      <a:srgbClr val="085630"/>
                    </a:solidFill>
                    <a:latin typeface="Roboto Medium"/>
                    <a:ea typeface="Roboto Medium"/>
                    <a:cs typeface="Roboto Medium"/>
                    <a:sym typeface="Roboto Medium"/>
                  </a:rPr>
                  <a:t>Data Collection</a:t>
                </a:r>
                <a:endParaRPr sz="2449">
                  <a:solidFill>
                    <a:srgbClr val="085630"/>
                  </a:solidFill>
                  <a:latin typeface="Roboto Medium"/>
                  <a:ea typeface="Roboto Medium"/>
                  <a:cs typeface="Roboto Medium"/>
                  <a:sym typeface="Roboto Medium"/>
                </a:endParaRPr>
              </a:p>
            </p:txBody>
          </p:sp>
          <p:sp>
            <p:nvSpPr>
              <p:cNvPr id="317" name="Google Shape;317;p17"/>
              <p:cNvSpPr/>
              <p:nvPr/>
            </p:nvSpPr>
            <p:spPr>
              <a:xfrm>
                <a:off x="2383625" y="438800"/>
                <a:ext cx="6286500" cy="731700"/>
              </a:xfrm>
              <a:prstGeom prst="rect">
                <a:avLst/>
              </a:prstGeom>
              <a:solidFill>
                <a:srgbClr val="085630"/>
              </a:solidFill>
              <a:ln>
                <a:noFill/>
              </a:ln>
            </p:spPr>
            <p:txBody>
              <a:bodyPr anchorCtr="0" anchor="ctr" bIns="39950" lIns="79975" spcFirstLastPara="1" rIns="79975" wrap="square" tIns="39950">
                <a:noAutofit/>
              </a:bodyPr>
              <a:lstStyle/>
              <a:p>
                <a:pPr indent="0" lvl="0" marL="0" rtl="0" algn="l">
                  <a:spcBef>
                    <a:spcPts val="0"/>
                  </a:spcBef>
                  <a:spcAft>
                    <a:spcPts val="0"/>
                  </a:spcAft>
                  <a:buNone/>
                </a:pPr>
                <a:r>
                  <a:t/>
                </a:r>
                <a:endParaRPr sz="1224"/>
              </a:p>
            </p:txBody>
          </p:sp>
          <p:sp>
            <p:nvSpPr>
              <p:cNvPr id="318" name="Google Shape;318;p17"/>
              <p:cNvSpPr txBox="1"/>
              <p:nvPr/>
            </p:nvSpPr>
            <p:spPr>
              <a:xfrm>
                <a:off x="2656175" y="520800"/>
                <a:ext cx="5741400" cy="558000"/>
              </a:xfrm>
              <a:prstGeom prst="rect">
                <a:avLst/>
              </a:prstGeom>
              <a:noFill/>
              <a:ln>
                <a:noFill/>
              </a:ln>
            </p:spPr>
            <p:txBody>
              <a:bodyPr anchorCtr="0" anchor="ctr" bIns="39950" lIns="79975" spcFirstLastPara="1" rIns="79975" wrap="square" tIns="39950">
                <a:noAutofit/>
              </a:bodyPr>
              <a:lstStyle/>
              <a:p>
                <a:pPr indent="0" lvl="0" marL="0" rtl="0" algn="l">
                  <a:lnSpc>
                    <a:spcPct val="115000"/>
                  </a:lnSpc>
                  <a:spcBef>
                    <a:spcPts val="0"/>
                  </a:spcBef>
                  <a:spcAft>
                    <a:spcPts val="0"/>
                  </a:spcAft>
                  <a:buNone/>
                </a:pPr>
                <a:r>
                  <a:rPr lang="en" sz="1049">
                    <a:solidFill>
                      <a:srgbClr val="FFFFFF"/>
                    </a:solidFill>
                    <a:latin typeface="Roboto"/>
                    <a:ea typeface="Roboto"/>
                    <a:cs typeface="Roboto"/>
                    <a:sym typeface="Roboto"/>
                  </a:rPr>
                  <a:t> I had to import the data from the dataset into my Python notebook to start</a:t>
                </a:r>
                <a:endParaRPr sz="1049">
                  <a:solidFill>
                    <a:srgbClr val="FFFFFF"/>
                  </a:solidFill>
                  <a:latin typeface="Roboto"/>
                  <a:ea typeface="Roboto"/>
                  <a:cs typeface="Roboto"/>
                  <a:sym typeface="Roboto"/>
                </a:endParaRPr>
              </a:p>
              <a:p>
                <a:pPr indent="0" lvl="0" marL="0" rtl="0" algn="l">
                  <a:lnSpc>
                    <a:spcPct val="115000"/>
                  </a:lnSpc>
                  <a:spcBef>
                    <a:spcPts val="0"/>
                  </a:spcBef>
                  <a:spcAft>
                    <a:spcPts val="0"/>
                  </a:spcAft>
                  <a:buNone/>
                </a:pPr>
                <a:r>
                  <a:rPr lang="en" sz="1049">
                    <a:solidFill>
                      <a:srgbClr val="FFFFFF"/>
                    </a:solidFill>
                    <a:latin typeface="Roboto"/>
                    <a:ea typeface="Roboto"/>
                    <a:cs typeface="Roboto"/>
                    <a:sym typeface="Roboto"/>
                  </a:rPr>
                  <a:t>working on it. To do so, I used the pandas library. The dataset was stored in CSV (Comma-Separated Values) format. </a:t>
                </a:r>
                <a:endParaRPr sz="1049">
                  <a:solidFill>
                    <a:srgbClr val="FFFFFF"/>
                  </a:solidFill>
                  <a:latin typeface="Roboto"/>
                  <a:ea typeface="Roboto"/>
                  <a:cs typeface="Roboto"/>
                  <a:sym typeface="Roboto"/>
                </a:endParaRPr>
              </a:p>
            </p:txBody>
          </p:sp>
        </p:grpSp>
        <p:grpSp>
          <p:nvGrpSpPr>
            <p:cNvPr id="319" name="Google Shape;319;p17"/>
            <p:cNvGrpSpPr/>
            <p:nvPr/>
          </p:nvGrpSpPr>
          <p:grpSpPr>
            <a:xfrm>
              <a:off x="122102" y="1321550"/>
              <a:ext cx="8111523" cy="731700"/>
              <a:chOff x="122102" y="1321550"/>
              <a:chExt cx="8111523" cy="731700"/>
            </a:xfrm>
          </p:grpSpPr>
          <p:sp>
            <p:nvSpPr>
              <p:cNvPr id="320" name="Google Shape;320;p17"/>
              <p:cNvSpPr txBox="1"/>
              <p:nvPr/>
            </p:nvSpPr>
            <p:spPr>
              <a:xfrm>
                <a:off x="122102" y="1344600"/>
                <a:ext cx="2164500" cy="629700"/>
              </a:xfrm>
              <a:prstGeom prst="rect">
                <a:avLst/>
              </a:prstGeom>
              <a:noFill/>
              <a:ln>
                <a:noFill/>
              </a:ln>
            </p:spPr>
            <p:txBody>
              <a:bodyPr anchorCtr="0" anchor="ctr" bIns="39950" lIns="79975" spcFirstLastPara="1" rIns="79975" wrap="square" tIns="39950">
                <a:noAutofit/>
              </a:bodyPr>
              <a:lstStyle/>
              <a:p>
                <a:pPr indent="0" lvl="0" marL="0" rtl="0" algn="r">
                  <a:lnSpc>
                    <a:spcPct val="90000"/>
                  </a:lnSpc>
                  <a:spcBef>
                    <a:spcPts val="0"/>
                  </a:spcBef>
                  <a:spcAft>
                    <a:spcPts val="0"/>
                  </a:spcAft>
                  <a:buNone/>
                </a:pPr>
                <a:r>
                  <a:rPr lang="en" sz="2449">
                    <a:solidFill>
                      <a:srgbClr val="0B713F"/>
                    </a:solidFill>
                    <a:latin typeface="Roboto Medium"/>
                    <a:ea typeface="Roboto Medium"/>
                    <a:cs typeface="Roboto Medium"/>
                    <a:sym typeface="Roboto Medium"/>
                  </a:rPr>
                  <a:t>Data</a:t>
                </a:r>
                <a:endParaRPr sz="2449">
                  <a:solidFill>
                    <a:srgbClr val="0B713F"/>
                  </a:solidFill>
                  <a:latin typeface="Roboto Medium"/>
                  <a:ea typeface="Roboto Medium"/>
                  <a:cs typeface="Roboto Medium"/>
                  <a:sym typeface="Roboto Medium"/>
                </a:endParaRPr>
              </a:p>
              <a:p>
                <a:pPr indent="0" lvl="0" marL="0" rtl="0" algn="r">
                  <a:lnSpc>
                    <a:spcPct val="90000"/>
                  </a:lnSpc>
                  <a:spcBef>
                    <a:spcPts val="0"/>
                  </a:spcBef>
                  <a:spcAft>
                    <a:spcPts val="0"/>
                  </a:spcAft>
                  <a:buNone/>
                </a:pPr>
                <a:r>
                  <a:rPr lang="en" sz="2449">
                    <a:solidFill>
                      <a:srgbClr val="0B713F"/>
                    </a:solidFill>
                    <a:latin typeface="Roboto Medium"/>
                    <a:ea typeface="Roboto Medium"/>
                    <a:cs typeface="Roboto Medium"/>
                    <a:sym typeface="Roboto Medium"/>
                  </a:rPr>
                  <a:t>Inspection</a:t>
                </a:r>
                <a:endParaRPr sz="2449">
                  <a:solidFill>
                    <a:srgbClr val="0B713F"/>
                  </a:solidFill>
                  <a:latin typeface="Roboto Medium"/>
                  <a:ea typeface="Roboto Medium"/>
                  <a:cs typeface="Roboto Medium"/>
                  <a:sym typeface="Roboto Medium"/>
                </a:endParaRPr>
              </a:p>
            </p:txBody>
          </p:sp>
          <p:sp>
            <p:nvSpPr>
              <p:cNvPr id="321" name="Google Shape;321;p17"/>
              <p:cNvSpPr/>
              <p:nvPr/>
            </p:nvSpPr>
            <p:spPr>
              <a:xfrm>
                <a:off x="2383625" y="1321550"/>
                <a:ext cx="5850000" cy="731700"/>
              </a:xfrm>
              <a:prstGeom prst="rect">
                <a:avLst/>
              </a:prstGeom>
              <a:solidFill>
                <a:srgbClr val="0B713F"/>
              </a:solidFill>
              <a:ln>
                <a:noFill/>
              </a:ln>
            </p:spPr>
            <p:txBody>
              <a:bodyPr anchorCtr="0" anchor="ctr" bIns="39950" lIns="79975" spcFirstLastPara="1" rIns="79975" wrap="square" tIns="39950">
                <a:noAutofit/>
              </a:bodyPr>
              <a:lstStyle/>
              <a:p>
                <a:pPr indent="0" lvl="0" marL="0" rtl="0" algn="l">
                  <a:spcBef>
                    <a:spcPts val="0"/>
                  </a:spcBef>
                  <a:spcAft>
                    <a:spcPts val="0"/>
                  </a:spcAft>
                  <a:buNone/>
                </a:pPr>
                <a:r>
                  <a:t/>
                </a:r>
                <a:endParaRPr sz="1224"/>
              </a:p>
            </p:txBody>
          </p:sp>
          <p:sp>
            <p:nvSpPr>
              <p:cNvPr id="322" name="Google Shape;322;p17"/>
              <p:cNvSpPr txBox="1"/>
              <p:nvPr/>
            </p:nvSpPr>
            <p:spPr>
              <a:xfrm>
                <a:off x="2654675" y="1372525"/>
                <a:ext cx="5307900" cy="629700"/>
              </a:xfrm>
              <a:prstGeom prst="rect">
                <a:avLst/>
              </a:prstGeom>
              <a:noFill/>
              <a:ln>
                <a:noFill/>
              </a:ln>
            </p:spPr>
            <p:txBody>
              <a:bodyPr anchorCtr="0" anchor="ctr" bIns="39950" lIns="79975" spcFirstLastPara="1" rIns="79975" wrap="square" tIns="39950">
                <a:noAutofit/>
              </a:bodyPr>
              <a:lstStyle/>
              <a:p>
                <a:pPr indent="0" lvl="0" marL="0" rtl="0" algn="l">
                  <a:lnSpc>
                    <a:spcPct val="115000"/>
                  </a:lnSpc>
                  <a:spcBef>
                    <a:spcPts val="0"/>
                  </a:spcBef>
                  <a:spcAft>
                    <a:spcPts val="0"/>
                  </a:spcAft>
                  <a:buNone/>
                </a:pPr>
                <a:r>
                  <a:rPr lang="en" sz="1049">
                    <a:solidFill>
                      <a:srgbClr val="FFFFFF"/>
                    </a:solidFill>
                    <a:latin typeface="Roboto"/>
                    <a:ea typeface="Roboto"/>
                    <a:cs typeface="Roboto"/>
                    <a:sym typeface="Roboto"/>
                  </a:rPr>
                  <a:t>Before preprocessing, the dataset was inspected to identify missing values, duplicate records, and inconsistencies in the data by using functions such as head(), info(), describe()</a:t>
                </a:r>
                <a:r>
                  <a:rPr lang="en" sz="1049">
                    <a:solidFill>
                      <a:srgbClr val="FFFFFF"/>
                    </a:solidFill>
                    <a:latin typeface="Roboto"/>
                    <a:ea typeface="Roboto"/>
                    <a:cs typeface="Roboto"/>
                    <a:sym typeface="Roboto"/>
                  </a:rPr>
                  <a:t>, columns, and dtype.</a:t>
                </a:r>
                <a:endParaRPr sz="1049">
                  <a:solidFill>
                    <a:srgbClr val="FFFFFF"/>
                  </a:solidFill>
                  <a:latin typeface="Roboto"/>
                  <a:ea typeface="Roboto"/>
                  <a:cs typeface="Roboto"/>
                  <a:sym typeface="Roboto"/>
                </a:endParaRPr>
              </a:p>
            </p:txBody>
          </p:sp>
        </p:grpSp>
        <p:grpSp>
          <p:nvGrpSpPr>
            <p:cNvPr id="323" name="Google Shape;323;p17"/>
            <p:cNvGrpSpPr/>
            <p:nvPr/>
          </p:nvGrpSpPr>
          <p:grpSpPr>
            <a:xfrm>
              <a:off x="612951" y="2179575"/>
              <a:ext cx="7152071" cy="731700"/>
              <a:chOff x="612951" y="2179575"/>
              <a:chExt cx="7152071" cy="731700"/>
            </a:xfrm>
          </p:grpSpPr>
          <p:sp>
            <p:nvSpPr>
              <p:cNvPr id="324" name="Google Shape;324;p17"/>
              <p:cNvSpPr txBox="1"/>
              <p:nvPr/>
            </p:nvSpPr>
            <p:spPr>
              <a:xfrm>
                <a:off x="612951" y="2254450"/>
                <a:ext cx="1673700" cy="629700"/>
              </a:xfrm>
              <a:prstGeom prst="rect">
                <a:avLst/>
              </a:prstGeom>
              <a:noFill/>
              <a:ln>
                <a:noFill/>
              </a:ln>
            </p:spPr>
            <p:txBody>
              <a:bodyPr anchorCtr="0" anchor="ctr" bIns="39950" lIns="79975" spcFirstLastPara="1" rIns="79975" wrap="square" tIns="39950">
                <a:noAutofit/>
              </a:bodyPr>
              <a:lstStyle/>
              <a:p>
                <a:pPr indent="0" lvl="0" marL="0" rtl="0" algn="r">
                  <a:lnSpc>
                    <a:spcPct val="90000"/>
                  </a:lnSpc>
                  <a:spcBef>
                    <a:spcPts val="0"/>
                  </a:spcBef>
                  <a:spcAft>
                    <a:spcPts val="0"/>
                  </a:spcAft>
                  <a:buNone/>
                </a:pPr>
                <a:r>
                  <a:rPr lang="en" sz="2449">
                    <a:solidFill>
                      <a:srgbClr val="0B7743"/>
                    </a:solidFill>
                    <a:latin typeface="Roboto Medium"/>
                    <a:ea typeface="Roboto Medium"/>
                    <a:cs typeface="Roboto Medium"/>
                    <a:sym typeface="Roboto Medium"/>
                  </a:rPr>
                  <a:t>Missing</a:t>
                </a:r>
                <a:endParaRPr sz="2449">
                  <a:solidFill>
                    <a:srgbClr val="0B7743"/>
                  </a:solidFill>
                  <a:latin typeface="Roboto Medium"/>
                  <a:ea typeface="Roboto Medium"/>
                  <a:cs typeface="Roboto Medium"/>
                  <a:sym typeface="Roboto Medium"/>
                </a:endParaRPr>
              </a:p>
              <a:p>
                <a:pPr indent="0" lvl="0" marL="0" rtl="0" algn="r">
                  <a:lnSpc>
                    <a:spcPct val="90000"/>
                  </a:lnSpc>
                  <a:spcBef>
                    <a:spcPts val="0"/>
                  </a:spcBef>
                  <a:spcAft>
                    <a:spcPts val="0"/>
                  </a:spcAft>
                  <a:buNone/>
                </a:pPr>
                <a:r>
                  <a:rPr lang="en" sz="2449">
                    <a:solidFill>
                      <a:srgbClr val="0B7743"/>
                    </a:solidFill>
                    <a:latin typeface="Roboto Medium"/>
                    <a:ea typeface="Roboto Medium"/>
                    <a:cs typeface="Roboto Medium"/>
                    <a:sym typeface="Roboto Medium"/>
                  </a:rPr>
                  <a:t>Values</a:t>
                </a:r>
                <a:endParaRPr sz="2449">
                  <a:solidFill>
                    <a:srgbClr val="0B7743"/>
                  </a:solidFill>
                  <a:latin typeface="Roboto Medium"/>
                  <a:ea typeface="Roboto Medium"/>
                  <a:cs typeface="Roboto Medium"/>
                  <a:sym typeface="Roboto Medium"/>
                </a:endParaRPr>
              </a:p>
            </p:txBody>
          </p:sp>
          <p:sp>
            <p:nvSpPr>
              <p:cNvPr id="325" name="Google Shape;325;p17"/>
              <p:cNvSpPr/>
              <p:nvPr/>
            </p:nvSpPr>
            <p:spPr>
              <a:xfrm>
                <a:off x="2383623" y="2179575"/>
                <a:ext cx="5381400" cy="731700"/>
              </a:xfrm>
              <a:prstGeom prst="rect">
                <a:avLst/>
              </a:prstGeom>
              <a:solidFill>
                <a:srgbClr val="0B7743"/>
              </a:solidFill>
              <a:ln>
                <a:noFill/>
              </a:ln>
            </p:spPr>
            <p:txBody>
              <a:bodyPr anchorCtr="0" anchor="ctr" bIns="39950" lIns="79975" spcFirstLastPara="1" rIns="79975" wrap="square" tIns="39950">
                <a:noAutofit/>
              </a:bodyPr>
              <a:lstStyle/>
              <a:p>
                <a:pPr indent="0" lvl="0" marL="0" rtl="0" algn="l">
                  <a:spcBef>
                    <a:spcPts val="0"/>
                  </a:spcBef>
                  <a:spcAft>
                    <a:spcPts val="0"/>
                  </a:spcAft>
                  <a:buNone/>
                </a:pPr>
                <a:r>
                  <a:t/>
                </a:r>
                <a:endParaRPr sz="1224"/>
              </a:p>
            </p:txBody>
          </p:sp>
          <p:sp>
            <p:nvSpPr>
              <p:cNvPr id="326" name="Google Shape;326;p17"/>
              <p:cNvSpPr txBox="1"/>
              <p:nvPr/>
            </p:nvSpPr>
            <p:spPr>
              <a:xfrm>
                <a:off x="2656175" y="2282450"/>
                <a:ext cx="5079000" cy="558000"/>
              </a:xfrm>
              <a:prstGeom prst="rect">
                <a:avLst/>
              </a:prstGeom>
              <a:noFill/>
              <a:ln>
                <a:noFill/>
              </a:ln>
            </p:spPr>
            <p:txBody>
              <a:bodyPr anchorCtr="0" anchor="ctr" bIns="39950" lIns="79975" spcFirstLastPara="1" rIns="79975" wrap="square" tIns="39950">
                <a:noAutofit/>
              </a:bodyPr>
              <a:lstStyle/>
              <a:p>
                <a:pPr indent="0" lvl="0" marL="0" rtl="0" algn="l">
                  <a:lnSpc>
                    <a:spcPct val="115000"/>
                  </a:lnSpc>
                  <a:spcBef>
                    <a:spcPts val="0"/>
                  </a:spcBef>
                  <a:spcAft>
                    <a:spcPts val="0"/>
                  </a:spcAft>
                  <a:buNone/>
                </a:pPr>
                <a:r>
                  <a:rPr lang="en" sz="1049">
                    <a:solidFill>
                      <a:srgbClr val="FFFFFF"/>
                    </a:solidFill>
                    <a:latin typeface="Roboto"/>
                    <a:ea typeface="Roboto"/>
                    <a:cs typeface="Roboto"/>
                    <a:sym typeface="Roboto"/>
                  </a:rPr>
                  <a:t>During inspection, missing values were identified in several columns. The K-Means method requires us to remove these records before training the model.</a:t>
                </a:r>
                <a:endParaRPr sz="1049">
                  <a:solidFill>
                    <a:srgbClr val="FFFFFF"/>
                  </a:solidFill>
                  <a:latin typeface="Roboto"/>
                  <a:ea typeface="Roboto"/>
                  <a:cs typeface="Roboto"/>
                  <a:sym typeface="Roboto"/>
                </a:endParaRPr>
              </a:p>
            </p:txBody>
          </p:sp>
        </p:grpSp>
        <p:grpSp>
          <p:nvGrpSpPr>
            <p:cNvPr id="327" name="Google Shape;327;p17"/>
            <p:cNvGrpSpPr/>
            <p:nvPr/>
          </p:nvGrpSpPr>
          <p:grpSpPr>
            <a:xfrm>
              <a:off x="211200" y="3076300"/>
              <a:ext cx="7105922" cy="731700"/>
              <a:chOff x="211200" y="3076300"/>
              <a:chExt cx="7105922" cy="731700"/>
            </a:xfrm>
          </p:grpSpPr>
          <p:sp>
            <p:nvSpPr>
              <p:cNvPr id="328" name="Google Shape;328;p17"/>
              <p:cNvSpPr txBox="1"/>
              <p:nvPr/>
            </p:nvSpPr>
            <p:spPr>
              <a:xfrm>
                <a:off x="211200" y="3113725"/>
                <a:ext cx="1986300" cy="629700"/>
              </a:xfrm>
              <a:prstGeom prst="rect">
                <a:avLst/>
              </a:prstGeom>
              <a:noFill/>
              <a:ln>
                <a:noFill/>
              </a:ln>
            </p:spPr>
            <p:txBody>
              <a:bodyPr anchorCtr="0" anchor="ctr" bIns="39950" lIns="79975" spcFirstLastPara="1" rIns="79975" wrap="square" tIns="39950">
                <a:noAutofit/>
              </a:bodyPr>
              <a:lstStyle/>
              <a:p>
                <a:pPr indent="0" lvl="0" marL="0" rtl="0" algn="r">
                  <a:lnSpc>
                    <a:spcPct val="90000"/>
                  </a:lnSpc>
                  <a:spcBef>
                    <a:spcPts val="0"/>
                  </a:spcBef>
                  <a:spcAft>
                    <a:spcPts val="0"/>
                  </a:spcAft>
                  <a:buNone/>
                </a:pPr>
                <a:r>
                  <a:rPr lang="en" sz="2449">
                    <a:solidFill>
                      <a:srgbClr val="0C8148"/>
                    </a:solidFill>
                    <a:latin typeface="Roboto Medium"/>
                    <a:ea typeface="Roboto Medium"/>
                    <a:cs typeface="Roboto Medium"/>
                    <a:sym typeface="Roboto Medium"/>
                  </a:rPr>
                  <a:t>Duplicates</a:t>
                </a:r>
                <a:endParaRPr sz="2449">
                  <a:solidFill>
                    <a:srgbClr val="0C8148"/>
                  </a:solidFill>
                  <a:latin typeface="Roboto Medium"/>
                  <a:ea typeface="Roboto Medium"/>
                  <a:cs typeface="Roboto Medium"/>
                  <a:sym typeface="Roboto Medium"/>
                </a:endParaRPr>
              </a:p>
            </p:txBody>
          </p:sp>
          <p:sp>
            <p:nvSpPr>
              <p:cNvPr id="329" name="Google Shape;329;p17"/>
              <p:cNvSpPr/>
              <p:nvPr/>
            </p:nvSpPr>
            <p:spPr>
              <a:xfrm>
                <a:off x="2383623" y="3076300"/>
                <a:ext cx="4933500" cy="731700"/>
              </a:xfrm>
              <a:prstGeom prst="rect">
                <a:avLst/>
              </a:prstGeom>
              <a:solidFill>
                <a:srgbClr val="0C8148"/>
              </a:solidFill>
              <a:ln>
                <a:noFill/>
              </a:ln>
            </p:spPr>
            <p:txBody>
              <a:bodyPr anchorCtr="0" anchor="ctr" bIns="39950" lIns="79975" spcFirstLastPara="1" rIns="79975" wrap="square" tIns="39950">
                <a:noAutofit/>
              </a:bodyPr>
              <a:lstStyle/>
              <a:p>
                <a:pPr indent="0" lvl="0" marL="0" rtl="0" algn="l">
                  <a:spcBef>
                    <a:spcPts val="0"/>
                  </a:spcBef>
                  <a:spcAft>
                    <a:spcPts val="0"/>
                  </a:spcAft>
                  <a:buNone/>
                </a:pPr>
                <a:r>
                  <a:t/>
                </a:r>
                <a:endParaRPr sz="1224"/>
              </a:p>
            </p:txBody>
          </p:sp>
          <p:sp>
            <p:nvSpPr>
              <p:cNvPr id="330" name="Google Shape;330;p17"/>
              <p:cNvSpPr txBox="1"/>
              <p:nvPr/>
            </p:nvSpPr>
            <p:spPr>
              <a:xfrm>
                <a:off x="2678375" y="3163138"/>
                <a:ext cx="4344000" cy="558000"/>
              </a:xfrm>
              <a:prstGeom prst="rect">
                <a:avLst/>
              </a:prstGeom>
              <a:noFill/>
              <a:ln>
                <a:noFill/>
              </a:ln>
            </p:spPr>
            <p:txBody>
              <a:bodyPr anchorCtr="0" anchor="ctr" bIns="39950" lIns="79975" spcFirstLastPara="1" rIns="79975" wrap="square" tIns="39950">
                <a:noAutofit/>
              </a:bodyPr>
              <a:lstStyle/>
              <a:p>
                <a:pPr indent="0" lvl="0" marL="0" rtl="0" algn="l">
                  <a:lnSpc>
                    <a:spcPct val="115000"/>
                  </a:lnSpc>
                  <a:spcBef>
                    <a:spcPts val="0"/>
                  </a:spcBef>
                  <a:spcAft>
                    <a:spcPts val="0"/>
                  </a:spcAft>
                  <a:buNone/>
                </a:pPr>
                <a:r>
                  <a:rPr lang="en" sz="1049">
                    <a:solidFill>
                      <a:srgbClr val="FFFFFF"/>
                    </a:solidFill>
                    <a:latin typeface="Roboto"/>
                    <a:ea typeface="Roboto"/>
                    <a:cs typeface="Roboto"/>
                    <a:sym typeface="Roboto"/>
                  </a:rPr>
                  <a:t>Similarly, duplicate observations were removed using the Pandas drop_duplicates() function.</a:t>
                </a:r>
                <a:endParaRPr sz="1049">
                  <a:solidFill>
                    <a:srgbClr val="FFFFFF"/>
                  </a:solidFill>
                  <a:latin typeface="Roboto"/>
                  <a:ea typeface="Roboto"/>
                  <a:cs typeface="Roboto"/>
                  <a:sym typeface="Roboto"/>
                </a:endParaRPr>
              </a:p>
            </p:txBody>
          </p:sp>
        </p:grpSp>
        <p:grpSp>
          <p:nvGrpSpPr>
            <p:cNvPr id="331" name="Google Shape;331;p17"/>
            <p:cNvGrpSpPr/>
            <p:nvPr/>
          </p:nvGrpSpPr>
          <p:grpSpPr>
            <a:xfrm>
              <a:off x="264297" y="3973025"/>
              <a:ext cx="6623478" cy="731700"/>
              <a:chOff x="264297" y="3973025"/>
              <a:chExt cx="6623478" cy="731700"/>
            </a:xfrm>
          </p:grpSpPr>
          <p:sp>
            <p:nvSpPr>
              <p:cNvPr id="332" name="Google Shape;332;p17"/>
              <p:cNvSpPr txBox="1"/>
              <p:nvPr/>
            </p:nvSpPr>
            <p:spPr>
              <a:xfrm>
                <a:off x="264297" y="3973025"/>
                <a:ext cx="1918200" cy="629700"/>
              </a:xfrm>
              <a:prstGeom prst="rect">
                <a:avLst/>
              </a:prstGeom>
              <a:noFill/>
              <a:ln>
                <a:noFill/>
              </a:ln>
            </p:spPr>
            <p:txBody>
              <a:bodyPr anchorCtr="0" anchor="ctr" bIns="39950" lIns="79975" spcFirstLastPara="1" rIns="79975" wrap="square" tIns="39950">
                <a:noAutofit/>
              </a:bodyPr>
              <a:lstStyle/>
              <a:p>
                <a:pPr indent="0" lvl="0" marL="0" rtl="0" algn="r">
                  <a:lnSpc>
                    <a:spcPct val="90000"/>
                  </a:lnSpc>
                  <a:spcBef>
                    <a:spcPts val="0"/>
                  </a:spcBef>
                  <a:spcAft>
                    <a:spcPts val="0"/>
                  </a:spcAft>
                  <a:buNone/>
                </a:pPr>
                <a:r>
                  <a:rPr lang="en" sz="2449">
                    <a:solidFill>
                      <a:srgbClr val="0E9453"/>
                    </a:solidFill>
                    <a:latin typeface="Roboto Medium"/>
                    <a:ea typeface="Roboto Medium"/>
                    <a:cs typeface="Roboto Medium"/>
                    <a:sym typeface="Roboto Medium"/>
                  </a:rPr>
                  <a:t>Selecting</a:t>
                </a:r>
                <a:endParaRPr sz="2449">
                  <a:solidFill>
                    <a:srgbClr val="0E9453"/>
                  </a:solidFill>
                  <a:latin typeface="Roboto Medium"/>
                  <a:ea typeface="Roboto Medium"/>
                  <a:cs typeface="Roboto Medium"/>
                  <a:sym typeface="Roboto Medium"/>
                </a:endParaRPr>
              </a:p>
              <a:p>
                <a:pPr indent="0" lvl="0" marL="0" rtl="0" algn="r">
                  <a:lnSpc>
                    <a:spcPct val="90000"/>
                  </a:lnSpc>
                  <a:spcBef>
                    <a:spcPts val="0"/>
                  </a:spcBef>
                  <a:spcAft>
                    <a:spcPts val="0"/>
                  </a:spcAft>
                  <a:buNone/>
                </a:pPr>
                <a:r>
                  <a:rPr lang="en" sz="2449">
                    <a:solidFill>
                      <a:srgbClr val="0E9453"/>
                    </a:solidFill>
                    <a:latin typeface="Roboto Medium"/>
                    <a:ea typeface="Roboto Medium"/>
                    <a:cs typeface="Roboto Medium"/>
                    <a:sym typeface="Roboto Medium"/>
                  </a:rPr>
                  <a:t>Features</a:t>
                </a:r>
                <a:endParaRPr sz="2449">
                  <a:solidFill>
                    <a:srgbClr val="0E9453"/>
                  </a:solidFill>
                  <a:latin typeface="Roboto Medium"/>
                  <a:ea typeface="Roboto Medium"/>
                  <a:cs typeface="Roboto Medium"/>
                  <a:sym typeface="Roboto Medium"/>
                </a:endParaRPr>
              </a:p>
            </p:txBody>
          </p:sp>
          <p:sp>
            <p:nvSpPr>
              <p:cNvPr id="333" name="Google Shape;333;p17"/>
              <p:cNvSpPr/>
              <p:nvPr/>
            </p:nvSpPr>
            <p:spPr>
              <a:xfrm>
                <a:off x="2408775" y="3973025"/>
                <a:ext cx="4479000" cy="731700"/>
              </a:xfrm>
              <a:prstGeom prst="rect">
                <a:avLst/>
              </a:prstGeom>
              <a:solidFill>
                <a:srgbClr val="0E9453"/>
              </a:solidFill>
              <a:ln>
                <a:noFill/>
              </a:ln>
            </p:spPr>
            <p:txBody>
              <a:bodyPr anchorCtr="0" anchor="ctr" bIns="39950" lIns="79975" spcFirstLastPara="1" rIns="79975" wrap="square" tIns="39950">
                <a:noAutofit/>
              </a:bodyPr>
              <a:lstStyle/>
              <a:p>
                <a:pPr indent="0" lvl="0" marL="0" rtl="0" algn="l">
                  <a:spcBef>
                    <a:spcPts val="0"/>
                  </a:spcBef>
                  <a:spcAft>
                    <a:spcPts val="0"/>
                  </a:spcAft>
                  <a:buNone/>
                </a:pPr>
                <a:r>
                  <a:t/>
                </a:r>
                <a:endParaRPr sz="1224"/>
              </a:p>
            </p:txBody>
          </p:sp>
          <p:sp>
            <p:nvSpPr>
              <p:cNvPr id="334" name="Google Shape;334;p17"/>
              <p:cNvSpPr txBox="1"/>
              <p:nvPr/>
            </p:nvSpPr>
            <p:spPr>
              <a:xfrm>
                <a:off x="2581275" y="3995825"/>
                <a:ext cx="4134000" cy="686100"/>
              </a:xfrm>
              <a:prstGeom prst="rect">
                <a:avLst/>
              </a:prstGeom>
              <a:noFill/>
              <a:ln>
                <a:noFill/>
              </a:ln>
            </p:spPr>
            <p:txBody>
              <a:bodyPr anchorCtr="0" anchor="ctr" bIns="39950" lIns="79975" spcFirstLastPara="1" rIns="79975" wrap="square" tIns="39950">
                <a:noAutofit/>
              </a:bodyPr>
              <a:lstStyle/>
              <a:p>
                <a:pPr indent="0" lvl="0" marL="0" rtl="0" algn="l">
                  <a:lnSpc>
                    <a:spcPct val="115000"/>
                  </a:lnSpc>
                  <a:spcBef>
                    <a:spcPts val="0"/>
                  </a:spcBef>
                  <a:spcAft>
                    <a:spcPts val="0"/>
                  </a:spcAft>
                  <a:buNone/>
                </a:pPr>
                <a:r>
                  <a:rPr lang="en" sz="1049">
                    <a:solidFill>
                      <a:srgbClr val="FFFFFF"/>
                    </a:solidFill>
                    <a:latin typeface="Roboto"/>
                    <a:ea typeface="Roboto"/>
                    <a:cs typeface="Roboto"/>
                    <a:sym typeface="Roboto"/>
                  </a:rPr>
                  <a:t>I chose the Annual Income and Spending Score features because they best represent customer purchasing behaviour . </a:t>
                </a:r>
                <a:endParaRPr sz="1049">
                  <a:solidFill>
                    <a:srgbClr val="FFFFFF"/>
                  </a:solidFill>
                  <a:latin typeface="Roboto"/>
                  <a:ea typeface="Roboto"/>
                  <a:cs typeface="Roboto"/>
                  <a:sym typeface="Roboto"/>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ABDBD"/>
        </a:solidFill>
      </p:bgPr>
    </p:bg>
    <p:spTree>
      <p:nvGrpSpPr>
        <p:cNvPr id="338" name="Shape 338"/>
        <p:cNvGrpSpPr/>
        <p:nvPr/>
      </p:nvGrpSpPr>
      <p:grpSpPr>
        <a:xfrm>
          <a:off x="0" y="0"/>
          <a:ext cx="0" cy="0"/>
          <a:chOff x="0" y="0"/>
          <a:chExt cx="0" cy="0"/>
        </a:xfrm>
      </p:grpSpPr>
      <p:sp>
        <p:nvSpPr>
          <p:cNvPr id="339" name="Google Shape;339;p18"/>
          <p:cNvSpPr txBox="1"/>
          <p:nvPr>
            <p:ph type="title"/>
          </p:nvPr>
        </p:nvSpPr>
        <p:spPr>
          <a:xfrm>
            <a:off x="549725" y="451200"/>
            <a:ext cx="8186100" cy="558000"/>
          </a:xfrm>
          <a:prstGeom prst="rect">
            <a:avLst/>
          </a:prstGeom>
          <a:ln>
            <a:noFill/>
          </a:ln>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3220">
                <a:solidFill>
                  <a:schemeClr val="lt1"/>
                </a:solidFill>
              </a:rPr>
              <a:t>Exploratory Data Analysis </a:t>
            </a:r>
            <a:endParaRPr sz="3220">
              <a:solidFill>
                <a:schemeClr val="lt1"/>
              </a:solidFill>
            </a:endParaRPr>
          </a:p>
        </p:txBody>
      </p:sp>
      <p:grpSp>
        <p:nvGrpSpPr>
          <p:cNvPr id="340" name="Google Shape;340;p18"/>
          <p:cNvGrpSpPr/>
          <p:nvPr/>
        </p:nvGrpSpPr>
        <p:grpSpPr>
          <a:xfrm>
            <a:off x="6205398" y="1159818"/>
            <a:ext cx="2435136" cy="3532286"/>
            <a:chOff x="576400" y="940575"/>
            <a:chExt cx="2778250" cy="3707269"/>
          </a:xfrm>
        </p:grpSpPr>
        <p:pic>
          <p:nvPicPr>
            <p:cNvPr id="341" name="Google Shape;341;p18" title="Screenshot 2026-07-30 175700.png"/>
            <p:cNvPicPr preferRelativeResize="0"/>
            <p:nvPr/>
          </p:nvPicPr>
          <p:blipFill>
            <a:blip r:embed="rId3">
              <a:alphaModFix/>
            </a:blip>
            <a:stretch>
              <a:fillRect/>
            </a:stretch>
          </p:blipFill>
          <p:spPr>
            <a:xfrm>
              <a:off x="576400" y="940575"/>
              <a:ext cx="2778249" cy="1863725"/>
            </a:xfrm>
            <a:prstGeom prst="rect">
              <a:avLst/>
            </a:prstGeom>
            <a:noFill/>
            <a:ln>
              <a:noFill/>
            </a:ln>
          </p:spPr>
        </p:pic>
        <p:pic>
          <p:nvPicPr>
            <p:cNvPr id="342" name="Google Shape;342;p18" title="Screenshot 2026-07-30 175723.png"/>
            <p:cNvPicPr preferRelativeResize="0"/>
            <p:nvPr/>
          </p:nvPicPr>
          <p:blipFill>
            <a:blip r:embed="rId4">
              <a:alphaModFix/>
            </a:blip>
            <a:stretch>
              <a:fillRect/>
            </a:stretch>
          </p:blipFill>
          <p:spPr>
            <a:xfrm>
              <a:off x="576400" y="2804300"/>
              <a:ext cx="2778250" cy="1843544"/>
            </a:xfrm>
            <a:prstGeom prst="rect">
              <a:avLst/>
            </a:prstGeom>
            <a:noFill/>
            <a:ln>
              <a:noFill/>
            </a:ln>
          </p:spPr>
        </p:pic>
      </p:grpSp>
      <p:grpSp>
        <p:nvGrpSpPr>
          <p:cNvPr id="343" name="Google Shape;343;p18"/>
          <p:cNvGrpSpPr/>
          <p:nvPr/>
        </p:nvGrpSpPr>
        <p:grpSpPr>
          <a:xfrm>
            <a:off x="549734" y="1160131"/>
            <a:ext cx="2435254" cy="3532418"/>
            <a:chOff x="549700" y="451193"/>
            <a:chExt cx="2923825" cy="4241107"/>
          </a:xfrm>
        </p:grpSpPr>
        <p:pic>
          <p:nvPicPr>
            <p:cNvPr id="344" name="Google Shape;344;p18" title="Screenshot 2026-07-30 175713.png"/>
            <p:cNvPicPr preferRelativeResize="0"/>
            <p:nvPr/>
          </p:nvPicPr>
          <p:blipFill>
            <a:blip r:embed="rId5">
              <a:alphaModFix/>
            </a:blip>
            <a:stretch>
              <a:fillRect/>
            </a:stretch>
          </p:blipFill>
          <p:spPr>
            <a:xfrm>
              <a:off x="549700" y="2453550"/>
              <a:ext cx="2923825" cy="2238750"/>
            </a:xfrm>
            <a:prstGeom prst="rect">
              <a:avLst/>
            </a:prstGeom>
            <a:noFill/>
            <a:ln>
              <a:noFill/>
            </a:ln>
          </p:spPr>
        </p:pic>
        <p:pic>
          <p:nvPicPr>
            <p:cNvPr id="345" name="Google Shape;345;p18" title="Screenshot 2026-07-30 175643.png"/>
            <p:cNvPicPr preferRelativeResize="0"/>
            <p:nvPr/>
          </p:nvPicPr>
          <p:blipFill>
            <a:blip r:embed="rId6">
              <a:alphaModFix/>
            </a:blip>
            <a:stretch>
              <a:fillRect/>
            </a:stretch>
          </p:blipFill>
          <p:spPr>
            <a:xfrm>
              <a:off x="549700" y="451193"/>
              <a:ext cx="2923825" cy="2002357"/>
            </a:xfrm>
            <a:prstGeom prst="rect">
              <a:avLst/>
            </a:prstGeom>
            <a:noFill/>
            <a:ln>
              <a:noFill/>
            </a:ln>
          </p:spPr>
        </p:pic>
      </p:grpSp>
      <p:sp>
        <p:nvSpPr>
          <p:cNvPr id="346" name="Google Shape;346;p18"/>
          <p:cNvSpPr txBox="1"/>
          <p:nvPr/>
        </p:nvSpPr>
        <p:spPr>
          <a:xfrm>
            <a:off x="3247000" y="1160125"/>
            <a:ext cx="2696400" cy="3471900"/>
          </a:xfrm>
          <a:prstGeom prst="rect">
            <a:avLst/>
          </a:prstGeom>
          <a:noFill/>
          <a:ln>
            <a:noFill/>
          </a:ln>
        </p:spPr>
        <p:txBody>
          <a:bodyPr anchorCtr="0" anchor="t" bIns="91425" lIns="91425" spcFirstLastPara="1" rIns="91425" wrap="square" tIns="91425">
            <a:noAutofit/>
          </a:bodyPr>
          <a:lstStyle/>
          <a:p>
            <a:pPr indent="0" lvl="0" marL="0" rtl="0" algn="just">
              <a:lnSpc>
                <a:spcPct val="80000"/>
              </a:lnSpc>
              <a:spcBef>
                <a:spcPts val="0"/>
              </a:spcBef>
              <a:spcAft>
                <a:spcPts val="0"/>
              </a:spcAft>
              <a:buNone/>
            </a:pPr>
            <a:r>
              <a:rPr lang="en" sz="1000">
                <a:solidFill>
                  <a:schemeClr val="lt1"/>
                </a:solidFill>
                <a:latin typeface="Calibri"/>
                <a:ea typeface="Calibri"/>
                <a:cs typeface="Calibri"/>
                <a:sym typeface="Calibri"/>
              </a:rPr>
              <a:t>Looking </a:t>
            </a:r>
            <a:r>
              <a:rPr lang="en" sz="1000">
                <a:solidFill>
                  <a:schemeClr val="lt1"/>
                </a:solidFill>
                <a:latin typeface="Calibri"/>
                <a:ea typeface="Calibri"/>
                <a:cs typeface="Calibri"/>
                <a:sym typeface="Calibri"/>
              </a:rPr>
              <a:t>at the </a:t>
            </a:r>
            <a:r>
              <a:rPr b="1" lang="en" sz="1000">
                <a:solidFill>
                  <a:schemeClr val="lt1"/>
                </a:solidFill>
                <a:latin typeface="Calibri"/>
                <a:ea typeface="Calibri"/>
                <a:cs typeface="Calibri"/>
                <a:sym typeface="Calibri"/>
              </a:rPr>
              <a:t>Gender Distribution Chart</a:t>
            </a:r>
            <a:r>
              <a:rPr lang="en" sz="1000">
                <a:solidFill>
                  <a:schemeClr val="lt1"/>
                </a:solidFill>
                <a:latin typeface="Calibri"/>
                <a:ea typeface="Calibri"/>
                <a:cs typeface="Calibri"/>
                <a:sym typeface="Calibri"/>
              </a:rPr>
              <a:t> helps us understand the number of male and female. As can be seen, there is but little difference in their numbers, with female customers leading by a few digits.</a:t>
            </a:r>
            <a:endParaRPr sz="1000">
              <a:solidFill>
                <a:schemeClr val="lt1"/>
              </a:solidFill>
              <a:latin typeface="Calibri"/>
              <a:ea typeface="Calibri"/>
              <a:cs typeface="Calibri"/>
              <a:sym typeface="Calibri"/>
            </a:endParaRPr>
          </a:p>
          <a:p>
            <a:pPr indent="0" lvl="0" marL="0" rtl="0" algn="just">
              <a:lnSpc>
                <a:spcPct val="80000"/>
              </a:lnSpc>
              <a:spcBef>
                <a:spcPts val="0"/>
              </a:spcBef>
              <a:spcAft>
                <a:spcPts val="0"/>
              </a:spcAft>
              <a:buNone/>
            </a:pPr>
            <a:r>
              <a:rPr lang="en" sz="1000">
                <a:solidFill>
                  <a:schemeClr val="lt1"/>
                </a:solidFill>
                <a:latin typeface="Calibri"/>
                <a:ea typeface="Calibri"/>
                <a:cs typeface="Calibri"/>
                <a:sym typeface="Calibri"/>
              </a:rPr>
              <a:t>I have used a histplot to show that customers belong to a wide range of </a:t>
            </a:r>
            <a:r>
              <a:rPr b="1" lang="en" sz="1000">
                <a:solidFill>
                  <a:schemeClr val="lt1"/>
                </a:solidFill>
                <a:latin typeface="Calibri"/>
                <a:ea typeface="Calibri"/>
                <a:cs typeface="Calibri"/>
                <a:sym typeface="Calibri"/>
              </a:rPr>
              <a:t>age </a:t>
            </a:r>
            <a:r>
              <a:rPr lang="en" sz="1000">
                <a:solidFill>
                  <a:schemeClr val="lt1"/>
                </a:solidFill>
                <a:latin typeface="Calibri"/>
                <a:ea typeface="Calibri"/>
                <a:cs typeface="Calibri"/>
                <a:sym typeface="Calibri"/>
              </a:rPr>
              <a:t>groups. Most customers are concentrated within the young adult and middle-aged categories, while comparatively fewer customers belong to the higher age groups</a:t>
            </a:r>
            <a:endParaRPr sz="1000">
              <a:solidFill>
                <a:schemeClr val="lt1"/>
              </a:solidFill>
              <a:latin typeface="Calibri"/>
              <a:ea typeface="Calibri"/>
              <a:cs typeface="Calibri"/>
              <a:sym typeface="Calibri"/>
            </a:endParaRPr>
          </a:p>
          <a:p>
            <a:pPr indent="0" lvl="0" marL="0" rtl="0" algn="just">
              <a:lnSpc>
                <a:spcPct val="80000"/>
              </a:lnSpc>
              <a:spcBef>
                <a:spcPts val="0"/>
              </a:spcBef>
              <a:spcAft>
                <a:spcPts val="0"/>
              </a:spcAft>
              <a:buNone/>
            </a:pPr>
            <a:r>
              <a:rPr lang="en" sz="1000">
                <a:solidFill>
                  <a:schemeClr val="lt1"/>
                </a:solidFill>
                <a:latin typeface="Calibri"/>
                <a:ea typeface="Calibri"/>
                <a:cs typeface="Calibri"/>
                <a:sym typeface="Calibri"/>
              </a:rPr>
              <a:t>The </a:t>
            </a:r>
            <a:r>
              <a:rPr b="1" lang="en" sz="1000">
                <a:solidFill>
                  <a:schemeClr val="lt1"/>
                </a:solidFill>
                <a:latin typeface="Calibri"/>
                <a:ea typeface="Calibri"/>
                <a:cs typeface="Calibri"/>
                <a:sym typeface="Calibri"/>
              </a:rPr>
              <a:t>annual income distribution</a:t>
            </a:r>
            <a:r>
              <a:rPr lang="en" sz="1000">
                <a:solidFill>
                  <a:schemeClr val="lt1"/>
                </a:solidFill>
                <a:latin typeface="Calibri"/>
                <a:ea typeface="Calibri"/>
                <a:cs typeface="Calibri"/>
                <a:sym typeface="Calibri"/>
              </a:rPr>
              <a:t> demonstrates variation in customer income levels across the dataset. Most customers fall within the middle-income range, while fewer customers are observed at the extreme lower and higher income levels. This helps us identify that most of our consumer base is part of the middle class.</a:t>
            </a:r>
            <a:endParaRPr sz="1000">
              <a:solidFill>
                <a:schemeClr val="lt1"/>
              </a:solidFill>
              <a:latin typeface="Calibri"/>
              <a:ea typeface="Calibri"/>
              <a:cs typeface="Calibri"/>
              <a:sym typeface="Calibri"/>
            </a:endParaRPr>
          </a:p>
          <a:p>
            <a:pPr indent="0" lvl="0" marL="0" rtl="0" algn="just">
              <a:lnSpc>
                <a:spcPct val="80000"/>
              </a:lnSpc>
              <a:spcBef>
                <a:spcPts val="0"/>
              </a:spcBef>
              <a:spcAft>
                <a:spcPts val="0"/>
              </a:spcAft>
              <a:buNone/>
            </a:pPr>
            <a:r>
              <a:rPr lang="en" sz="1000">
                <a:solidFill>
                  <a:schemeClr val="lt1"/>
                </a:solidFill>
                <a:latin typeface="Calibri"/>
                <a:ea typeface="Calibri"/>
                <a:cs typeface="Calibri"/>
                <a:sym typeface="Calibri"/>
              </a:rPr>
              <a:t>The </a:t>
            </a:r>
            <a:r>
              <a:rPr b="1" lang="en" sz="1000">
                <a:solidFill>
                  <a:schemeClr val="lt1"/>
                </a:solidFill>
                <a:latin typeface="Calibri"/>
                <a:ea typeface="Calibri"/>
                <a:cs typeface="Calibri"/>
                <a:sym typeface="Calibri"/>
              </a:rPr>
              <a:t>spending score</a:t>
            </a:r>
            <a:r>
              <a:rPr lang="en" sz="1000">
                <a:solidFill>
                  <a:schemeClr val="lt1"/>
                </a:solidFill>
                <a:latin typeface="Calibri"/>
                <a:ea typeface="Calibri"/>
                <a:cs typeface="Calibri"/>
                <a:sym typeface="Calibri"/>
              </a:rPr>
              <a:t> represents the purchasing behavior of customers on a scale from 1 to 100. The distribution indicates that customers exhibit varying spending habits, ranging from low to high spending levels. This variation provides meaningful information for identifying distinct customer segments during clustering. There are two peaks in the plot - people are either spending very little, or they are spending a lot.</a:t>
            </a:r>
            <a:endParaRPr sz="1000">
              <a:solidFill>
                <a:schemeClr val="lt1"/>
              </a:solidFill>
              <a:latin typeface="Nunito"/>
              <a:ea typeface="Nunito"/>
              <a:cs typeface="Nunito"/>
              <a:sym typeface="Nuni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ABDBD"/>
        </a:solidFill>
      </p:bgPr>
    </p:bg>
    <p:spTree>
      <p:nvGrpSpPr>
        <p:cNvPr id="350" name="Shape 350"/>
        <p:cNvGrpSpPr/>
        <p:nvPr/>
      </p:nvGrpSpPr>
      <p:grpSpPr>
        <a:xfrm>
          <a:off x="0" y="0"/>
          <a:ext cx="0" cy="0"/>
          <a:chOff x="0" y="0"/>
          <a:chExt cx="0" cy="0"/>
        </a:xfrm>
      </p:grpSpPr>
      <p:sp>
        <p:nvSpPr>
          <p:cNvPr id="351" name="Google Shape;351;p19"/>
          <p:cNvSpPr txBox="1"/>
          <p:nvPr>
            <p:ph type="title"/>
          </p:nvPr>
        </p:nvSpPr>
        <p:spPr>
          <a:xfrm>
            <a:off x="549725" y="451200"/>
            <a:ext cx="8186100" cy="558000"/>
          </a:xfrm>
          <a:prstGeom prst="rect">
            <a:avLst/>
          </a:prstGeom>
          <a:ln>
            <a:noFill/>
          </a:ln>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3220">
                <a:solidFill>
                  <a:schemeClr val="lt1"/>
                </a:solidFill>
              </a:rPr>
              <a:t>Exploratory Data Analysis </a:t>
            </a:r>
            <a:endParaRPr sz="3220">
              <a:solidFill>
                <a:schemeClr val="lt1"/>
              </a:solidFill>
            </a:endParaRPr>
          </a:p>
        </p:txBody>
      </p:sp>
      <p:sp>
        <p:nvSpPr>
          <p:cNvPr id="352" name="Google Shape;352;p19"/>
          <p:cNvSpPr txBox="1"/>
          <p:nvPr/>
        </p:nvSpPr>
        <p:spPr>
          <a:xfrm>
            <a:off x="549725" y="1309975"/>
            <a:ext cx="6002100" cy="29754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 sz="1200">
                <a:solidFill>
                  <a:schemeClr val="lt1"/>
                </a:solidFill>
                <a:latin typeface="Calibri"/>
                <a:ea typeface="Calibri"/>
                <a:cs typeface="Calibri"/>
                <a:sym typeface="Calibri"/>
              </a:rPr>
              <a:t>The analysis indicates that no strong linear correlation exists between annual income, spending score, and age. This suggests that each variable contributes unique information to the customer segmentation process. This supports the use of clustering techniques to identify patterns that are not immediately apparent through pairwise correlations.</a:t>
            </a:r>
            <a:endParaRPr sz="1200">
              <a:solidFill>
                <a:schemeClr val="lt1"/>
              </a:solidFill>
              <a:latin typeface="Calibri"/>
              <a:ea typeface="Calibri"/>
              <a:cs typeface="Calibri"/>
              <a:sym typeface="Calibri"/>
            </a:endParaRPr>
          </a:p>
          <a:p>
            <a:pPr indent="0" lvl="0" marL="0" rtl="0" algn="l">
              <a:lnSpc>
                <a:spcPct val="80000"/>
              </a:lnSpc>
              <a:spcBef>
                <a:spcPts val="0"/>
              </a:spcBef>
              <a:spcAft>
                <a:spcPts val="0"/>
              </a:spcAft>
              <a:buNone/>
            </a:pPr>
            <a:r>
              <a:rPr lang="en" sz="1200">
                <a:solidFill>
                  <a:schemeClr val="lt1"/>
                </a:solidFill>
                <a:latin typeface="Calibri"/>
                <a:ea typeface="Calibri"/>
                <a:cs typeface="Calibri"/>
                <a:sym typeface="Calibri"/>
              </a:rPr>
              <a:t>Using the spending score chart, I noticed that people are either spending a lot of money or they aren’t. I wanted to investigate this relationship further by comparing the spending score with age, gender and income to see if anything comes up.</a:t>
            </a:r>
            <a:endParaRPr sz="1200">
              <a:solidFill>
                <a:schemeClr val="lt1"/>
              </a:solidFill>
              <a:latin typeface="Calibri"/>
              <a:ea typeface="Calibri"/>
              <a:cs typeface="Calibri"/>
              <a:sym typeface="Calibri"/>
            </a:endParaRPr>
          </a:p>
          <a:p>
            <a:pPr indent="0" lvl="0" marL="0" rtl="0" algn="l">
              <a:lnSpc>
                <a:spcPct val="80000"/>
              </a:lnSpc>
              <a:spcBef>
                <a:spcPts val="0"/>
              </a:spcBef>
              <a:spcAft>
                <a:spcPts val="0"/>
              </a:spcAft>
              <a:buNone/>
            </a:pPr>
            <a:r>
              <a:rPr lang="en" sz="1200">
                <a:solidFill>
                  <a:schemeClr val="lt1"/>
                </a:solidFill>
                <a:latin typeface="Calibri"/>
                <a:ea typeface="Calibri"/>
                <a:cs typeface="Calibri"/>
                <a:sym typeface="Calibri"/>
              </a:rPr>
              <a:t>In the case of Annual Income as well, there is a negative trend. In general, as annual income increases, spending scores tend to decrease. However, the plot is important for one more reason. Several dense regions of points are visible, suggesting natural customer groupings, which provide strong justification for applying the K-Means clustering algorithm to identify meaningful customer segments.</a:t>
            </a:r>
            <a:endParaRPr sz="1200">
              <a:solidFill>
                <a:schemeClr val="lt1"/>
              </a:solidFill>
              <a:latin typeface="Calibri"/>
              <a:ea typeface="Calibri"/>
              <a:cs typeface="Calibri"/>
              <a:sym typeface="Calibri"/>
            </a:endParaRPr>
          </a:p>
          <a:p>
            <a:pPr indent="0" lvl="0" marL="0" rtl="0" algn="l">
              <a:lnSpc>
                <a:spcPct val="80000"/>
              </a:lnSpc>
              <a:spcBef>
                <a:spcPts val="0"/>
              </a:spcBef>
              <a:spcAft>
                <a:spcPts val="0"/>
              </a:spcAft>
              <a:buNone/>
            </a:pPr>
            <a:r>
              <a:rPr lang="en" sz="1200">
                <a:solidFill>
                  <a:schemeClr val="lt1"/>
                </a:solidFill>
                <a:latin typeface="Calibri"/>
                <a:ea typeface="Calibri"/>
                <a:cs typeface="Calibri"/>
                <a:sym typeface="Calibri"/>
              </a:rPr>
              <a:t>Since I observed a noticeable negative relationship in the first and third plots, I calculated the</a:t>
            </a:r>
            <a:endParaRPr sz="1200">
              <a:solidFill>
                <a:schemeClr val="lt1"/>
              </a:solidFill>
              <a:latin typeface="Calibri"/>
              <a:ea typeface="Calibri"/>
              <a:cs typeface="Calibri"/>
              <a:sym typeface="Calibri"/>
            </a:endParaRPr>
          </a:p>
          <a:p>
            <a:pPr indent="0" lvl="0" marL="0" rtl="0" algn="l">
              <a:lnSpc>
                <a:spcPct val="80000"/>
              </a:lnSpc>
              <a:spcBef>
                <a:spcPts val="0"/>
              </a:spcBef>
              <a:spcAft>
                <a:spcPts val="0"/>
              </a:spcAft>
              <a:buNone/>
            </a:pPr>
            <a:r>
              <a:rPr lang="en" sz="1200">
                <a:solidFill>
                  <a:schemeClr val="lt1"/>
                </a:solidFill>
                <a:latin typeface="Calibri"/>
                <a:ea typeface="Calibri"/>
                <a:cs typeface="Calibri"/>
                <a:sym typeface="Calibri"/>
              </a:rPr>
              <a:t>Pearson correlation coefficients for the two cases. Now, for the case of Age and Spending Score, the value -0.835 is very close to -1, which indicates a strong negative linear relationship. This confirms our understanding that as Age increases, Spending Score tends to decrease.</a:t>
            </a:r>
            <a:endParaRPr sz="1200">
              <a:solidFill>
                <a:schemeClr val="lt1"/>
              </a:solidFill>
              <a:latin typeface="Calibri"/>
              <a:ea typeface="Calibri"/>
              <a:cs typeface="Calibri"/>
              <a:sym typeface="Calibri"/>
            </a:endParaRPr>
          </a:p>
          <a:p>
            <a:pPr indent="0" lvl="0" marL="0" rtl="0" algn="l">
              <a:lnSpc>
                <a:spcPct val="80000"/>
              </a:lnSpc>
              <a:spcBef>
                <a:spcPts val="0"/>
              </a:spcBef>
              <a:spcAft>
                <a:spcPts val="0"/>
              </a:spcAft>
              <a:buNone/>
            </a:pPr>
            <a:r>
              <a:rPr lang="en" sz="1200">
                <a:solidFill>
                  <a:schemeClr val="lt1"/>
                </a:solidFill>
                <a:latin typeface="Calibri"/>
                <a:ea typeface="Calibri"/>
                <a:cs typeface="Calibri"/>
                <a:sym typeface="Calibri"/>
              </a:rPr>
              <a:t>The Coefficient for Annual Income is -0.846073, which is even stronger than the other. This means that as Annual Income increases, Spending Score generally decreases.</a:t>
            </a:r>
            <a:endParaRPr sz="1200">
              <a:solidFill>
                <a:schemeClr val="lt1"/>
              </a:solidFill>
              <a:latin typeface="Calibri"/>
              <a:ea typeface="Calibri"/>
              <a:cs typeface="Calibri"/>
              <a:sym typeface="Calibri"/>
            </a:endParaRPr>
          </a:p>
        </p:txBody>
      </p:sp>
      <p:grpSp>
        <p:nvGrpSpPr>
          <p:cNvPr id="353" name="Google Shape;353;p19"/>
          <p:cNvGrpSpPr/>
          <p:nvPr/>
        </p:nvGrpSpPr>
        <p:grpSpPr>
          <a:xfrm>
            <a:off x="6708144" y="1126775"/>
            <a:ext cx="2142856" cy="3341800"/>
            <a:chOff x="6708144" y="1126775"/>
            <a:chExt cx="2142856" cy="3341800"/>
          </a:xfrm>
        </p:grpSpPr>
        <p:pic>
          <p:nvPicPr>
            <p:cNvPr id="354" name="Google Shape;354;p19" title="Screenshot 2026-07-30 185059.png"/>
            <p:cNvPicPr preferRelativeResize="0"/>
            <p:nvPr/>
          </p:nvPicPr>
          <p:blipFill>
            <a:blip r:embed="rId3">
              <a:alphaModFix/>
            </a:blip>
            <a:stretch>
              <a:fillRect/>
            </a:stretch>
          </p:blipFill>
          <p:spPr>
            <a:xfrm>
              <a:off x="6708144" y="1126775"/>
              <a:ext cx="2142855" cy="1683900"/>
            </a:xfrm>
            <a:prstGeom prst="rect">
              <a:avLst/>
            </a:prstGeom>
            <a:noFill/>
            <a:ln>
              <a:noFill/>
            </a:ln>
          </p:spPr>
        </p:pic>
        <p:pic>
          <p:nvPicPr>
            <p:cNvPr id="355" name="Google Shape;355;p19" title="Screenshot 2026-07-30 184938.png"/>
            <p:cNvPicPr preferRelativeResize="0"/>
            <p:nvPr/>
          </p:nvPicPr>
          <p:blipFill>
            <a:blip r:embed="rId4">
              <a:alphaModFix/>
            </a:blip>
            <a:stretch>
              <a:fillRect/>
            </a:stretch>
          </p:blipFill>
          <p:spPr>
            <a:xfrm>
              <a:off x="6708150" y="2810671"/>
              <a:ext cx="2142851" cy="1657904"/>
            </a:xfrm>
            <a:prstGeom prst="rect">
              <a:avLst/>
            </a:prstGeom>
            <a:noFill/>
            <a:ln>
              <a:noFill/>
            </a:ln>
          </p:spPr>
        </p:pic>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ABDBD"/>
        </a:solidFill>
      </p:bgPr>
    </p:bg>
    <p:spTree>
      <p:nvGrpSpPr>
        <p:cNvPr id="359" name="Shape 359"/>
        <p:cNvGrpSpPr/>
        <p:nvPr/>
      </p:nvGrpSpPr>
      <p:grpSpPr>
        <a:xfrm>
          <a:off x="0" y="0"/>
          <a:ext cx="0" cy="0"/>
          <a:chOff x="0" y="0"/>
          <a:chExt cx="0" cy="0"/>
        </a:xfrm>
      </p:grpSpPr>
      <p:sp>
        <p:nvSpPr>
          <p:cNvPr id="360" name="Google Shape;360;p20"/>
          <p:cNvSpPr txBox="1"/>
          <p:nvPr>
            <p:ph type="title"/>
          </p:nvPr>
        </p:nvSpPr>
        <p:spPr>
          <a:xfrm>
            <a:off x="549725" y="451200"/>
            <a:ext cx="8186100" cy="558000"/>
          </a:xfrm>
          <a:prstGeom prst="rect">
            <a:avLst/>
          </a:prstGeom>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220">
                <a:solidFill>
                  <a:schemeClr val="lt1"/>
                </a:solidFill>
              </a:rPr>
              <a:t>Customer Segmentation using</a:t>
            </a:r>
            <a:endParaRPr sz="3220">
              <a:solidFill>
                <a:schemeClr val="lt1"/>
              </a:solidFill>
            </a:endParaRPr>
          </a:p>
          <a:p>
            <a:pPr indent="0" lvl="0" marL="0" rtl="0" algn="ctr">
              <a:spcBef>
                <a:spcPts val="0"/>
              </a:spcBef>
              <a:spcAft>
                <a:spcPts val="0"/>
              </a:spcAft>
              <a:buNone/>
            </a:pPr>
            <a:r>
              <a:rPr lang="en" sz="3220">
                <a:solidFill>
                  <a:schemeClr val="lt1"/>
                </a:solidFill>
              </a:rPr>
              <a:t>K-Means Clustering</a:t>
            </a:r>
            <a:endParaRPr sz="3220">
              <a:solidFill>
                <a:schemeClr val="lt1"/>
              </a:solidFill>
            </a:endParaRPr>
          </a:p>
        </p:txBody>
      </p:sp>
      <p:sp>
        <p:nvSpPr>
          <p:cNvPr id="361" name="Google Shape;361;p20"/>
          <p:cNvSpPr txBox="1"/>
          <p:nvPr/>
        </p:nvSpPr>
        <p:spPr>
          <a:xfrm>
            <a:off x="549725" y="1526450"/>
            <a:ext cx="4935300" cy="28656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b="1" lang="en" sz="1200">
                <a:solidFill>
                  <a:schemeClr val="lt1"/>
                </a:solidFill>
                <a:latin typeface="Calibri"/>
                <a:ea typeface="Calibri"/>
                <a:cs typeface="Calibri"/>
                <a:sym typeface="Calibri"/>
              </a:rPr>
              <a:t>K-Means</a:t>
            </a:r>
            <a:r>
              <a:rPr lang="en" sz="1200">
                <a:solidFill>
                  <a:schemeClr val="lt1"/>
                </a:solidFill>
                <a:latin typeface="Calibri"/>
                <a:ea typeface="Calibri"/>
                <a:cs typeface="Calibri"/>
                <a:sym typeface="Calibri"/>
              </a:rPr>
              <a:t> is an unsupervised machine learning algorithm widely used for clustering tasks. Unlike supervised learning algorithms, K-Means does not require labeled data. Instead, it partitions observations into a predefined number of clusters based on the similarity of their features. The algorithm</a:t>
            </a:r>
            <a:endParaRPr sz="1200">
              <a:solidFill>
                <a:schemeClr val="lt1"/>
              </a:solidFill>
              <a:latin typeface="Calibri"/>
              <a:ea typeface="Calibri"/>
              <a:cs typeface="Calibri"/>
              <a:sym typeface="Calibri"/>
            </a:endParaRPr>
          </a:p>
          <a:p>
            <a:pPr indent="0" lvl="0" marL="0" rtl="0" algn="l">
              <a:lnSpc>
                <a:spcPct val="80000"/>
              </a:lnSpc>
              <a:spcBef>
                <a:spcPts val="0"/>
              </a:spcBef>
              <a:spcAft>
                <a:spcPts val="0"/>
              </a:spcAft>
              <a:buNone/>
            </a:pPr>
            <a:r>
              <a:rPr lang="en" sz="1200">
                <a:solidFill>
                  <a:schemeClr val="lt1"/>
                </a:solidFill>
                <a:latin typeface="Calibri"/>
                <a:ea typeface="Calibri"/>
                <a:cs typeface="Calibri"/>
                <a:sym typeface="Calibri"/>
              </a:rPr>
              <a:t>aims to minimize the distance between data points and the centroid of the cluster to which they belong. In this project, K-Means clustering was employed to identify groups of customers with similar purchasing behaviour based on their annual income and spending score.</a:t>
            </a:r>
            <a:endParaRPr sz="1200">
              <a:solidFill>
                <a:schemeClr val="lt1"/>
              </a:solidFill>
              <a:latin typeface="Calibri"/>
              <a:ea typeface="Calibri"/>
              <a:cs typeface="Calibri"/>
              <a:sym typeface="Calibri"/>
            </a:endParaRPr>
          </a:p>
          <a:p>
            <a:pPr indent="0" lvl="0" marL="0" rtl="0" algn="l">
              <a:lnSpc>
                <a:spcPct val="80000"/>
              </a:lnSpc>
              <a:spcBef>
                <a:spcPts val="0"/>
              </a:spcBef>
              <a:spcAft>
                <a:spcPts val="0"/>
              </a:spcAft>
              <a:buNone/>
            </a:pPr>
            <a:r>
              <a:rPr lang="en" sz="1200">
                <a:solidFill>
                  <a:schemeClr val="lt1"/>
                </a:solidFill>
                <a:latin typeface="Calibri"/>
                <a:ea typeface="Calibri"/>
                <a:cs typeface="Calibri"/>
                <a:sym typeface="Calibri"/>
              </a:rPr>
              <a:t>Selecting appropriate features is a critical step in the clustering process. For this project, Annual Income and Spending Score were chosen as the clustering variables because they directly represent customers’ purchasing capacity and spending behaviour.</a:t>
            </a:r>
            <a:endParaRPr sz="1200">
              <a:solidFill>
                <a:schemeClr val="lt1"/>
              </a:solidFill>
              <a:latin typeface="Calibri"/>
              <a:ea typeface="Calibri"/>
              <a:cs typeface="Calibri"/>
              <a:sym typeface="Calibri"/>
            </a:endParaRPr>
          </a:p>
          <a:p>
            <a:pPr indent="0" lvl="0" marL="0" rtl="0" algn="l">
              <a:lnSpc>
                <a:spcPct val="80000"/>
              </a:lnSpc>
              <a:spcBef>
                <a:spcPts val="0"/>
              </a:spcBef>
              <a:spcAft>
                <a:spcPts val="0"/>
              </a:spcAft>
              <a:buNone/>
            </a:pPr>
            <a:r>
              <a:rPr lang="en" sz="1200">
                <a:solidFill>
                  <a:schemeClr val="lt1"/>
                </a:solidFill>
                <a:latin typeface="Calibri"/>
                <a:ea typeface="Calibri"/>
                <a:cs typeface="Calibri"/>
                <a:sym typeface="Calibri"/>
              </a:rPr>
              <a:t>Since K-Means is a distance-based algorithm, feature scaling was performed before clustering. Standardization was applied using the StandardScaler technique, which transforms each feature to have a mean of zero and a standard deviation of one. This prevents variables with larger numerical values from dominating the clustering process and ensures that both features contribute equally to the calculation of distances.</a:t>
            </a:r>
            <a:endParaRPr sz="1200">
              <a:solidFill>
                <a:schemeClr val="lt1"/>
              </a:solidFill>
              <a:latin typeface="Calibri"/>
              <a:ea typeface="Calibri"/>
              <a:cs typeface="Calibri"/>
              <a:sym typeface="Calibri"/>
            </a:endParaRPr>
          </a:p>
        </p:txBody>
      </p:sp>
      <p:grpSp>
        <p:nvGrpSpPr>
          <p:cNvPr id="362" name="Google Shape;362;p20"/>
          <p:cNvGrpSpPr/>
          <p:nvPr/>
        </p:nvGrpSpPr>
        <p:grpSpPr>
          <a:xfrm>
            <a:off x="5735591" y="1354813"/>
            <a:ext cx="3000228" cy="3318673"/>
            <a:chOff x="5989442" y="1028597"/>
            <a:chExt cx="2257508" cy="3661378"/>
          </a:xfrm>
        </p:grpSpPr>
        <p:sp>
          <p:nvSpPr>
            <p:cNvPr id="363" name="Google Shape;363;p20"/>
            <p:cNvSpPr/>
            <p:nvPr/>
          </p:nvSpPr>
          <p:spPr>
            <a:xfrm>
              <a:off x="5989442" y="1028597"/>
              <a:ext cx="2257500" cy="837000"/>
            </a:xfrm>
            <a:prstGeom prst="roundRect">
              <a:avLst>
                <a:gd fmla="val 16667" name="adj"/>
              </a:avLst>
            </a:prstGeom>
            <a:solidFill>
              <a:schemeClr val="lt2"/>
            </a:solidFill>
            <a:ln cap="flat" cmpd="sng" w="8950">
              <a:solidFill>
                <a:schemeClr val="dk2"/>
              </a:solidFill>
              <a:prstDash val="solid"/>
              <a:round/>
              <a:headEnd len="sm" w="sm" type="none"/>
              <a:tailEnd len="sm" w="sm" type="none"/>
            </a:ln>
          </p:spPr>
          <p:txBody>
            <a:bodyPr anchorCtr="0" anchor="ctr" bIns="85900" lIns="85900" spcFirstLastPara="1" rIns="85900" wrap="square" tIns="85900">
              <a:noAutofit/>
            </a:bodyPr>
            <a:lstStyle/>
            <a:p>
              <a:pPr indent="0" lvl="0" marL="0" rtl="0" algn="ctr">
                <a:spcBef>
                  <a:spcPts val="0"/>
                </a:spcBef>
                <a:spcAft>
                  <a:spcPts val="0"/>
                </a:spcAft>
                <a:buNone/>
              </a:pPr>
              <a:r>
                <a:rPr lang="en" sz="1315">
                  <a:latin typeface="Nunito"/>
                  <a:ea typeface="Nunito"/>
                  <a:cs typeface="Nunito"/>
                  <a:sym typeface="Nunito"/>
                </a:rPr>
                <a:t>Using the Standard Scalar method on the selected features</a:t>
              </a:r>
              <a:endParaRPr sz="1315">
                <a:latin typeface="Nunito"/>
                <a:ea typeface="Nunito"/>
                <a:cs typeface="Nunito"/>
                <a:sym typeface="Nunito"/>
              </a:endParaRPr>
            </a:p>
          </p:txBody>
        </p:sp>
        <p:sp>
          <p:nvSpPr>
            <p:cNvPr id="364" name="Google Shape;364;p20"/>
            <p:cNvSpPr/>
            <p:nvPr/>
          </p:nvSpPr>
          <p:spPr>
            <a:xfrm>
              <a:off x="5989450" y="2013750"/>
              <a:ext cx="2257500" cy="558000"/>
            </a:xfrm>
            <a:prstGeom prst="roundRect">
              <a:avLst>
                <a:gd fmla="val 16667" name="adj"/>
              </a:avLst>
            </a:prstGeom>
            <a:solidFill>
              <a:schemeClr val="lt2"/>
            </a:solidFill>
            <a:ln cap="flat" cmpd="sng" w="8950">
              <a:solidFill>
                <a:schemeClr val="dk2"/>
              </a:solidFill>
              <a:prstDash val="solid"/>
              <a:round/>
              <a:headEnd len="sm" w="sm" type="none"/>
              <a:tailEnd len="sm" w="sm" type="none"/>
            </a:ln>
          </p:spPr>
          <p:txBody>
            <a:bodyPr anchorCtr="0" anchor="ctr" bIns="85900" lIns="85900" spcFirstLastPara="1" rIns="85900" wrap="square" tIns="85900">
              <a:noAutofit/>
            </a:bodyPr>
            <a:lstStyle/>
            <a:p>
              <a:pPr indent="0" lvl="0" marL="0" rtl="0" algn="ctr">
                <a:spcBef>
                  <a:spcPts val="0"/>
                </a:spcBef>
                <a:spcAft>
                  <a:spcPts val="0"/>
                </a:spcAft>
                <a:buNone/>
              </a:pPr>
              <a:r>
                <a:rPr lang="en" sz="1315">
                  <a:latin typeface="Nunito"/>
                  <a:ea typeface="Nunito"/>
                  <a:cs typeface="Nunito"/>
                  <a:sym typeface="Nunito"/>
                </a:rPr>
                <a:t>Elbow Method</a:t>
              </a:r>
              <a:endParaRPr sz="1315">
                <a:latin typeface="Nunito"/>
                <a:ea typeface="Nunito"/>
                <a:cs typeface="Nunito"/>
                <a:sym typeface="Nunito"/>
              </a:endParaRPr>
            </a:p>
          </p:txBody>
        </p:sp>
        <p:sp>
          <p:nvSpPr>
            <p:cNvPr id="365" name="Google Shape;365;p20"/>
            <p:cNvSpPr/>
            <p:nvPr/>
          </p:nvSpPr>
          <p:spPr>
            <a:xfrm>
              <a:off x="5989450" y="2719825"/>
              <a:ext cx="2257500" cy="558000"/>
            </a:xfrm>
            <a:prstGeom prst="roundRect">
              <a:avLst>
                <a:gd fmla="val 16667" name="adj"/>
              </a:avLst>
            </a:prstGeom>
            <a:solidFill>
              <a:schemeClr val="lt2"/>
            </a:solidFill>
            <a:ln cap="flat" cmpd="sng" w="8950">
              <a:solidFill>
                <a:schemeClr val="dk2"/>
              </a:solidFill>
              <a:prstDash val="solid"/>
              <a:round/>
              <a:headEnd len="sm" w="sm" type="none"/>
              <a:tailEnd len="sm" w="sm" type="none"/>
            </a:ln>
          </p:spPr>
          <p:txBody>
            <a:bodyPr anchorCtr="0" anchor="ctr" bIns="85900" lIns="85900" spcFirstLastPara="1" rIns="85900" wrap="square" tIns="85900">
              <a:noAutofit/>
            </a:bodyPr>
            <a:lstStyle/>
            <a:p>
              <a:pPr indent="0" lvl="0" marL="0" rtl="0" algn="ctr">
                <a:spcBef>
                  <a:spcPts val="0"/>
                </a:spcBef>
                <a:spcAft>
                  <a:spcPts val="0"/>
                </a:spcAft>
                <a:buNone/>
              </a:pPr>
              <a:r>
                <a:rPr lang="en" sz="1315">
                  <a:latin typeface="Nunito"/>
                  <a:ea typeface="Nunito"/>
                  <a:cs typeface="Nunito"/>
                  <a:sym typeface="Nunito"/>
                </a:rPr>
                <a:t>k=4</a:t>
              </a:r>
              <a:endParaRPr sz="1315">
                <a:latin typeface="Nunito"/>
                <a:ea typeface="Nunito"/>
                <a:cs typeface="Nunito"/>
                <a:sym typeface="Nunito"/>
              </a:endParaRPr>
            </a:p>
          </p:txBody>
        </p:sp>
        <p:sp>
          <p:nvSpPr>
            <p:cNvPr id="366" name="Google Shape;366;p20"/>
            <p:cNvSpPr/>
            <p:nvPr/>
          </p:nvSpPr>
          <p:spPr>
            <a:xfrm>
              <a:off x="5989450" y="3425900"/>
              <a:ext cx="2257500" cy="558000"/>
            </a:xfrm>
            <a:prstGeom prst="roundRect">
              <a:avLst>
                <a:gd fmla="val 16667" name="adj"/>
              </a:avLst>
            </a:prstGeom>
            <a:solidFill>
              <a:schemeClr val="lt2"/>
            </a:solidFill>
            <a:ln cap="flat" cmpd="sng" w="8950">
              <a:solidFill>
                <a:schemeClr val="dk2"/>
              </a:solidFill>
              <a:prstDash val="solid"/>
              <a:round/>
              <a:headEnd len="sm" w="sm" type="none"/>
              <a:tailEnd len="sm" w="sm" type="none"/>
            </a:ln>
          </p:spPr>
          <p:txBody>
            <a:bodyPr anchorCtr="0" anchor="ctr" bIns="85900" lIns="85900" spcFirstLastPara="1" rIns="85900" wrap="square" tIns="85900">
              <a:noAutofit/>
            </a:bodyPr>
            <a:lstStyle/>
            <a:p>
              <a:pPr indent="0" lvl="0" marL="0" rtl="0" algn="ctr">
                <a:spcBef>
                  <a:spcPts val="0"/>
                </a:spcBef>
                <a:spcAft>
                  <a:spcPts val="0"/>
                </a:spcAft>
                <a:buNone/>
              </a:pPr>
              <a:r>
                <a:rPr lang="en" sz="1315">
                  <a:latin typeface="Nunito"/>
                  <a:ea typeface="Nunito"/>
                  <a:cs typeface="Nunito"/>
                  <a:sym typeface="Nunito"/>
                </a:rPr>
                <a:t>K-Means Algorithm</a:t>
              </a:r>
              <a:endParaRPr sz="1315">
                <a:latin typeface="Nunito"/>
                <a:ea typeface="Nunito"/>
                <a:cs typeface="Nunito"/>
                <a:sym typeface="Nunito"/>
              </a:endParaRPr>
            </a:p>
          </p:txBody>
        </p:sp>
        <p:sp>
          <p:nvSpPr>
            <p:cNvPr id="367" name="Google Shape;367;p20"/>
            <p:cNvSpPr/>
            <p:nvPr/>
          </p:nvSpPr>
          <p:spPr>
            <a:xfrm>
              <a:off x="5989450" y="4131975"/>
              <a:ext cx="2257500" cy="558000"/>
            </a:xfrm>
            <a:prstGeom prst="roundRect">
              <a:avLst>
                <a:gd fmla="val 16667" name="adj"/>
              </a:avLst>
            </a:prstGeom>
            <a:solidFill>
              <a:schemeClr val="lt2"/>
            </a:solidFill>
            <a:ln cap="flat" cmpd="sng" w="8950">
              <a:solidFill>
                <a:schemeClr val="dk2"/>
              </a:solidFill>
              <a:prstDash val="solid"/>
              <a:round/>
              <a:headEnd len="sm" w="sm" type="none"/>
              <a:tailEnd len="sm" w="sm" type="none"/>
            </a:ln>
          </p:spPr>
          <p:txBody>
            <a:bodyPr anchorCtr="0" anchor="ctr" bIns="85900" lIns="85900" spcFirstLastPara="1" rIns="85900" wrap="square" tIns="85900">
              <a:noAutofit/>
            </a:bodyPr>
            <a:lstStyle/>
            <a:p>
              <a:pPr indent="0" lvl="0" marL="0" rtl="0" algn="ctr">
                <a:spcBef>
                  <a:spcPts val="0"/>
                </a:spcBef>
                <a:spcAft>
                  <a:spcPts val="0"/>
                </a:spcAft>
                <a:buNone/>
              </a:pPr>
              <a:r>
                <a:rPr lang="en" sz="1315">
                  <a:latin typeface="Nunito"/>
                  <a:ea typeface="Nunito"/>
                  <a:cs typeface="Nunito"/>
                  <a:sym typeface="Nunito"/>
                </a:rPr>
                <a:t>Cluster Analysis</a:t>
              </a:r>
              <a:endParaRPr sz="1315">
                <a:latin typeface="Nunito"/>
                <a:ea typeface="Nunito"/>
                <a:cs typeface="Nunito"/>
                <a:sym typeface="Nunito"/>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ABDBD"/>
        </a:solidFill>
      </p:bgPr>
    </p:bg>
    <p:spTree>
      <p:nvGrpSpPr>
        <p:cNvPr id="371" name="Shape 371"/>
        <p:cNvGrpSpPr/>
        <p:nvPr/>
      </p:nvGrpSpPr>
      <p:grpSpPr>
        <a:xfrm>
          <a:off x="0" y="0"/>
          <a:ext cx="0" cy="0"/>
          <a:chOff x="0" y="0"/>
          <a:chExt cx="0" cy="0"/>
        </a:xfrm>
      </p:grpSpPr>
      <p:sp>
        <p:nvSpPr>
          <p:cNvPr id="372" name="Google Shape;372;p21"/>
          <p:cNvSpPr txBox="1"/>
          <p:nvPr>
            <p:ph type="title"/>
          </p:nvPr>
        </p:nvSpPr>
        <p:spPr>
          <a:xfrm>
            <a:off x="478950" y="516125"/>
            <a:ext cx="8186100" cy="558000"/>
          </a:xfrm>
          <a:prstGeom prst="rect">
            <a:avLst/>
          </a:prstGeom>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220">
                <a:solidFill>
                  <a:schemeClr val="lt1"/>
                </a:solidFill>
              </a:rPr>
              <a:t>Determining the Optimal Number of Clusters (Elbow Method) </a:t>
            </a:r>
            <a:endParaRPr sz="3220">
              <a:solidFill>
                <a:schemeClr val="lt1"/>
              </a:solidFill>
            </a:endParaRPr>
          </a:p>
        </p:txBody>
      </p:sp>
      <p:sp>
        <p:nvSpPr>
          <p:cNvPr id="373" name="Google Shape;373;p21"/>
          <p:cNvSpPr txBox="1"/>
          <p:nvPr/>
        </p:nvSpPr>
        <p:spPr>
          <a:xfrm>
            <a:off x="4245175" y="1504800"/>
            <a:ext cx="4419900" cy="28656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 sz="1300">
                <a:solidFill>
                  <a:schemeClr val="lt1"/>
                </a:solidFill>
                <a:latin typeface="Calibri"/>
                <a:ea typeface="Calibri"/>
                <a:cs typeface="Calibri"/>
                <a:sym typeface="Calibri"/>
              </a:rPr>
              <a:t>Selecting an appropriate number of clusters is essential for effective segmentation. The </a:t>
            </a:r>
            <a:r>
              <a:rPr b="1" lang="en" sz="1300">
                <a:solidFill>
                  <a:schemeClr val="lt1"/>
                </a:solidFill>
                <a:latin typeface="Calibri"/>
                <a:ea typeface="Calibri"/>
                <a:cs typeface="Calibri"/>
                <a:sym typeface="Calibri"/>
              </a:rPr>
              <a:t>Elbow Method</a:t>
            </a:r>
            <a:r>
              <a:rPr lang="en" sz="1300">
                <a:solidFill>
                  <a:schemeClr val="lt1"/>
                </a:solidFill>
                <a:latin typeface="Calibri"/>
                <a:ea typeface="Calibri"/>
                <a:cs typeface="Calibri"/>
                <a:sym typeface="Calibri"/>
              </a:rPr>
              <a:t> was used to determine the optimal value of k by plotting the Within-Cluster Sum of Squares (WCSS) against different numbers of clusters. The graph showed a noticeable bend at</a:t>
            </a:r>
            <a:endParaRPr sz="1300">
              <a:solidFill>
                <a:schemeClr val="lt1"/>
              </a:solidFill>
              <a:latin typeface="Calibri"/>
              <a:ea typeface="Calibri"/>
              <a:cs typeface="Calibri"/>
              <a:sym typeface="Calibri"/>
            </a:endParaRPr>
          </a:p>
          <a:p>
            <a:pPr indent="0" lvl="0" marL="0" rtl="0" algn="ctr">
              <a:lnSpc>
                <a:spcPct val="80000"/>
              </a:lnSpc>
              <a:spcBef>
                <a:spcPts val="0"/>
              </a:spcBef>
              <a:spcAft>
                <a:spcPts val="0"/>
              </a:spcAft>
              <a:buNone/>
            </a:pPr>
            <a:r>
              <a:rPr lang="en" sz="1300">
                <a:solidFill>
                  <a:schemeClr val="lt1"/>
                </a:solidFill>
                <a:latin typeface="Calibri"/>
                <a:ea typeface="Calibri"/>
                <a:cs typeface="Calibri"/>
                <a:sym typeface="Calibri"/>
              </a:rPr>
              <a:t>k = 4</a:t>
            </a:r>
            <a:endParaRPr sz="1300">
              <a:solidFill>
                <a:schemeClr val="lt1"/>
              </a:solidFill>
              <a:latin typeface="Calibri"/>
              <a:ea typeface="Calibri"/>
              <a:cs typeface="Calibri"/>
              <a:sym typeface="Calibri"/>
            </a:endParaRPr>
          </a:p>
          <a:p>
            <a:pPr indent="0" lvl="0" marL="0" rtl="0" algn="l">
              <a:lnSpc>
                <a:spcPct val="80000"/>
              </a:lnSpc>
              <a:spcBef>
                <a:spcPts val="0"/>
              </a:spcBef>
              <a:spcAft>
                <a:spcPts val="0"/>
              </a:spcAft>
              <a:buNone/>
            </a:pPr>
            <a:r>
              <a:rPr lang="en" sz="1300">
                <a:solidFill>
                  <a:schemeClr val="lt1"/>
                </a:solidFill>
                <a:latin typeface="Calibri"/>
                <a:ea typeface="Calibri"/>
                <a:cs typeface="Calibri"/>
                <a:sym typeface="Calibri"/>
              </a:rPr>
              <a:t>indicating that increasing the number of clusters beyond this point resulted in only marginal improvements. Therefore, four clusters were selected for the K-Means model.</a:t>
            </a:r>
            <a:endParaRPr sz="1300">
              <a:solidFill>
                <a:schemeClr val="lt1"/>
              </a:solidFill>
              <a:latin typeface="Calibri"/>
              <a:ea typeface="Calibri"/>
              <a:cs typeface="Calibri"/>
              <a:sym typeface="Calibri"/>
            </a:endParaRPr>
          </a:p>
          <a:p>
            <a:pPr indent="0" lvl="0" marL="0" rtl="0" algn="l">
              <a:lnSpc>
                <a:spcPct val="80000"/>
              </a:lnSpc>
              <a:spcBef>
                <a:spcPts val="0"/>
              </a:spcBef>
              <a:spcAft>
                <a:spcPts val="0"/>
              </a:spcAft>
              <a:buNone/>
            </a:pPr>
            <a:r>
              <a:t/>
            </a:r>
            <a:endParaRPr sz="1300">
              <a:solidFill>
                <a:schemeClr val="lt1"/>
              </a:solidFill>
              <a:latin typeface="Calibri"/>
              <a:ea typeface="Calibri"/>
              <a:cs typeface="Calibri"/>
              <a:sym typeface="Calibri"/>
            </a:endParaRPr>
          </a:p>
          <a:p>
            <a:pPr indent="0" lvl="0" marL="0" rtl="0" algn="l">
              <a:lnSpc>
                <a:spcPct val="80000"/>
              </a:lnSpc>
              <a:spcBef>
                <a:spcPts val="0"/>
              </a:spcBef>
              <a:spcAft>
                <a:spcPts val="0"/>
              </a:spcAft>
              <a:buNone/>
            </a:pPr>
            <a:r>
              <a:rPr lang="en" sz="1300">
                <a:solidFill>
                  <a:schemeClr val="lt1"/>
                </a:solidFill>
                <a:latin typeface="Calibri"/>
                <a:ea typeface="Calibri"/>
                <a:cs typeface="Calibri"/>
                <a:sym typeface="Calibri"/>
              </a:rPr>
              <a:t>After selecting the optimal number of clusters, the K-Means algorithm was trained using the standardized annual income and spending score features. Each customer was assigned to one of four</a:t>
            </a:r>
            <a:endParaRPr sz="1300">
              <a:solidFill>
                <a:schemeClr val="lt1"/>
              </a:solidFill>
              <a:latin typeface="Calibri"/>
              <a:ea typeface="Calibri"/>
              <a:cs typeface="Calibri"/>
              <a:sym typeface="Calibri"/>
            </a:endParaRPr>
          </a:p>
          <a:p>
            <a:pPr indent="0" lvl="0" marL="0" rtl="0" algn="l">
              <a:lnSpc>
                <a:spcPct val="80000"/>
              </a:lnSpc>
              <a:spcBef>
                <a:spcPts val="0"/>
              </a:spcBef>
              <a:spcAft>
                <a:spcPts val="0"/>
              </a:spcAft>
              <a:buNone/>
            </a:pPr>
            <a:r>
              <a:rPr lang="en" sz="1300">
                <a:solidFill>
                  <a:schemeClr val="lt1"/>
                </a:solidFill>
                <a:latin typeface="Calibri"/>
                <a:ea typeface="Calibri"/>
                <a:cs typeface="Calibri"/>
                <a:sym typeface="Calibri"/>
              </a:rPr>
              <a:t>clusters based on similarity to the corresponding cluster centroid. The trained model produced customer groups that were later visualized and analyzed to identify distinct purchasing patterns.</a:t>
            </a:r>
            <a:endParaRPr sz="1300">
              <a:solidFill>
                <a:schemeClr val="lt1"/>
              </a:solidFill>
              <a:latin typeface="Calibri"/>
              <a:ea typeface="Calibri"/>
              <a:cs typeface="Calibri"/>
              <a:sym typeface="Calibri"/>
            </a:endParaRPr>
          </a:p>
          <a:p>
            <a:pPr indent="0" lvl="0" marL="0" rtl="0" algn="l">
              <a:lnSpc>
                <a:spcPct val="80000"/>
              </a:lnSpc>
              <a:spcBef>
                <a:spcPts val="0"/>
              </a:spcBef>
              <a:spcAft>
                <a:spcPts val="0"/>
              </a:spcAft>
              <a:buNone/>
            </a:pPr>
            <a:r>
              <a:t/>
            </a:r>
            <a:endParaRPr b="1" sz="1200">
              <a:solidFill>
                <a:schemeClr val="lt1"/>
              </a:solidFill>
              <a:latin typeface="Calibri"/>
              <a:ea typeface="Calibri"/>
              <a:cs typeface="Calibri"/>
              <a:sym typeface="Calibri"/>
            </a:endParaRPr>
          </a:p>
        </p:txBody>
      </p:sp>
      <p:pic>
        <p:nvPicPr>
          <p:cNvPr id="374" name="Google Shape;374;p21" title="Screenshot 2026-07-30 194116.png"/>
          <p:cNvPicPr preferRelativeResize="0"/>
          <p:nvPr/>
        </p:nvPicPr>
        <p:blipFill>
          <a:blip r:embed="rId3">
            <a:alphaModFix/>
          </a:blip>
          <a:stretch>
            <a:fillRect/>
          </a:stretch>
        </p:blipFill>
        <p:spPr>
          <a:xfrm>
            <a:off x="478950" y="1806625"/>
            <a:ext cx="3495726" cy="226194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ABDBD"/>
        </a:solidFill>
      </p:bgPr>
    </p:bg>
    <p:spTree>
      <p:nvGrpSpPr>
        <p:cNvPr id="378" name="Shape 378"/>
        <p:cNvGrpSpPr/>
        <p:nvPr/>
      </p:nvGrpSpPr>
      <p:grpSpPr>
        <a:xfrm>
          <a:off x="0" y="0"/>
          <a:ext cx="0" cy="0"/>
          <a:chOff x="0" y="0"/>
          <a:chExt cx="0" cy="0"/>
        </a:xfrm>
      </p:grpSpPr>
      <p:sp>
        <p:nvSpPr>
          <p:cNvPr id="379" name="Google Shape;379;p22"/>
          <p:cNvSpPr txBox="1"/>
          <p:nvPr>
            <p:ph type="title"/>
          </p:nvPr>
        </p:nvSpPr>
        <p:spPr>
          <a:xfrm>
            <a:off x="478950" y="516125"/>
            <a:ext cx="8186100" cy="558000"/>
          </a:xfrm>
          <a:prstGeom prst="rect">
            <a:avLst/>
          </a:prstGeom>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220">
                <a:solidFill>
                  <a:schemeClr val="lt1"/>
                </a:solidFill>
              </a:rPr>
              <a:t>Cluster Visualization</a:t>
            </a:r>
            <a:endParaRPr sz="3220">
              <a:solidFill>
                <a:schemeClr val="lt1"/>
              </a:solidFill>
            </a:endParaRPr>
          </a:p>
        </p:txBody>
      </p:sp>
      <p:sp>
        <p:nvSpPr>
          <p:cNvPr id="380" name="Google Shape;380;p22"/>
          <p:cNvSpPr txBox="1"/>
          <p:nvPr/>
        </p:nvSpPr>
        <p:spPr>
          <a:xfrm>
            <a:off x="4444950" y="1143000"/>
            <a:ext cx="4220100" cy="32274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 sz="1200">
                <a:solidFill>
                  <a:schemeClr val="lt1"/>
                </a:solidFill>
                <a:latin typeface="Calibri"/>
                <a:ea typeface="Calibri"/>
                <a:cs typeface="Calibri"/>
                <a:sym typeface="Calibri"/>
              </a:rPr>
              <a:t>Each colour represents a unique customer segment, while the black markers indicate the cluster centroids. The visualization demonstrates that the algorithm successfully separated customers into distinct groups based on annual income and spending behaviour. The centroids represent the average characteristics of each cluster and serve as the reference point for assigning customers to their respective segments.</a:t>
            </a:r>
            <a:endParaRPr sz="1200">
              <a:solidFill>
                <a:schemeClr val="lt1"/>
              </a:solidFill>
              <a:latin typeface="Calibri"/>
              <a:ea typeface="Calibri"/>
              <a:cs typeface="Calibri"/>
              <a:sym typeface="Calibri"/>
            </a:endParaRPr>
          </a:p>
          <a:p>
            <a:pPr indent="-247650" lvl="0" marL="285750" rtl="0" algn="l">
              <a:lnSpc>
                <a:spcPct val="80000"/>
              </a:lnSpc>
              <a:spcBef>
                <a:spcPts val="0"/>
              </a:spcBef>
              <a:spcAft>
                <a:spcPts val="0"/>
              </a:spcAft>
              <a:buClr>
                <a:schemeClr val="lt1"/>
              </a:buClr>
              <a:buSzPts val="1200"/>
              <a:buFont typeface="Calibri"/>
              <a:buChar char="●"/>
            </a:pPr>
            <a:r>
              <a:rPr b="1" lang="en" sz="1200">
                <a:solidFill>
                  <a:schemeClr val="lt1"/>
                </a:solidFill>
                <a:latin typeface="Calibri"/>
                <a:ea typeface="Calibri"/>
                <a:cs typeface="Calibri"/>
                <a:sym typeface="Calibri"/>
              </a:rPr>
              <a:t>Cluster 0:</a:t>
            </a:r>
            <a:r>
              <a:rPr lang="en" sz="1200">
                <a:solidFill>
                  <a:schemeClr val="lt1"/>
                </a:solidFill>
                <a:latin typeface="Calibri"/>
                <a:ea typeface="Calibri"/>
                <a:cs typeface="Calibri"/>
                <a:sym typeface="Calibri"/>
              </a:rPr>
              <a:t> Consists of middle-aged customers with relatively high incomes but below-average spending scores. Despite having good purchasing power, they spend conservatively.</a:t>
            </a:r>
            <a:endParaRPr sz="1200">
              <a:solidFill>
                <a:schemeClr val="lt1"/>
              </a:solidFill>
              <a:latin typeface="Calibri"/>
              <a:ea typeface="Calibri"/>
              <a:cs typeface="Calibri"/>
              <a:sym typeface="Calibri"/>
            </a:endParaRPr>
          </a:p>
          <a:p>
            <a:pPr indent="-247650" lvl="0" marL="285750" rtl="0" algn="l">
              <a:lnSpc>
                <a:spcPct val="80000"/>
              </a:lnSpc>
              <a:spcBef>
                <a:spcPts val="0"/>
              </a:spcBef>
              <a:spcAft>
                <a:spcPts val="0"/>
              </a:spcAft>
              <a:buClr>
                <a:schemeClr val="lt1"/>
              </a:buClr>
              <a:buSzPts val="1200"/>
              <a:buFont typeface="Calibri"/>
              <a:buChar char="●"/>
            </a:pPr>
            <a:r>
              <a:rPr b="1" lang="en" sz="1200">
                <a:solidFill>
                  <a:schemeClr val="lt1"/>
                </a:solidFill>
                <a:latin typeface="Calibri"/>
                <a:ea typeface="Calibri"/>
                <a:cs typeface="Calibri"/>
                <a:sym typeface="Calibri"/>
              </a:rPr>
              <a:t>Cluster 1: </a:t>
            </a:r>
            <a:r>
              <a:rPr lang="en" sz="1200">
                <a:solidFill>
                  <a:schemeClr val="lt1"/>
                </a:solidFill>
                <a:latin typeface="Calibri"/>
                <a:ea typeface="Calibri"/>
                <a:cs typeface="Calibri"/>
                <a:sym typeface="Calibri"/>
              </a:rPr>
              <a:t>Consists of older, high-income customers who spend very little. They have the highest average income but the lowest spending score, indicating untapped purchasing potential.</a:t>
            </a:r>
            <a:endParaRPr sz="1200">
              <a:solidFill>
                <a:schemeClr val="lt1"/>
              </a:solidFill>
              <a:latin typeface="Calibri"/>
              <a:ea typeface="Calibri"/>
              <a:cs typeface="Calibri"/>
              <a:sym typeface="Calibri"/>
            </a:endParaRPr>
          </a:p>
          <a:p>
            <a:pPr indent="-247650" lvl="0" marL="285750" rtl="0" algn="l">
              <a:lnSpc>
                <a:spcPct val="80000"/>
              </a:lnSpc>
              <a:spcBef>
                <a:spcPts val="0"/>
              </a:spcBef>
              <a:spcAft>
                <a:spcPts val="0"/>
              </a:spcAft>
              <a:buClr>
                <a:schemeClr val="lt1"/>
              </a:buClr>
              <a:buSzPts val="1200"/>
              <a:buFont typeface="Calibri"/>
              <a:buChar char="●"/>
            </a:pPr>
            <a:r>
              <a:rPr b="1" lang="en" sz="1200">
                <a:solidFill>
                  <a:schemeClr val="lt1"/>
                </a:solidFill>
                <a:latin typeface="Calibri"/>
                <a:ea typeface="Calibri"/>
                <a:cs typeface="Calibri"/>
                <a:sym typeface="Calibri"/>
              </a:rPr>
              <a:t>Cluster 2: </a:t>
            </a:r>
            <a:r>
              <a:rPr lang="en" sz="1200">
                <a:solidFill>
                  <a:schemeClr val="lt1"/>
                </a:solidFill>
                <a:latin typeface="Calibri"/>
                <a:ea typeface="Calibri"/>
                <a:cs typeface="Calibri"/>
                <a:sym typeface="Calibri"/>
              </a:rPr>
              <a:t>These customers are the youngest group with the lowest average income but the highest spending score. They appear to be highly engaged shoppe</a:t>
            </a:r>
            <a:r>
              <a:rPr lang="en" sz="1200">
                <a:solidFill>
                  <a:schemeClr val="lt1"/>
                </a:solidFill>
                <a:latin typeface="Calibri"/>
                <a:ea typeface="Calibri"/>
                <a:cs typeface="Calibri"/>
                <a:sym typeface="Calibri"/>
              </a:rPr>
              <a:t>rs </a:t>
            </a:r>
            <a:r>
              <a:rPr lang="en" sz="1200">
                <a:solidFill>
                  <a:schemeClr val="lt1"/>
                </a:solidFill>
                <a:latin typeface="Calibri"/>
                <a:ea typeface="Calibri"/>
                <a:cs typeface="Calibri"/>
                <a:sym typeface="Calibri"/>
              </a:rPr>
              <a:t>despite having relatively limited purchasing power.</a:t>
            </a:r>
            <a:endParaRPr sz="1200">
              <a:solidFill>
                <a:schemeClr val="lt1"/>
              </a:solidFill>
              <a:latin typeface="Calibri"/>
              <a:ea typeface="Calibri"/>
              <a:cs typeface="Calibri"/>
              <a:sym typeface="Calibri"/>
            </a:endParaRPr>
          </a:p>
          <a:p>
            <a:pPr indent="-247650" lvl="0" marL="285750" rtl="0" algn="l">
              <a:lnSpc>
                <a:spcPct val="80000"/>
              </a:lnSpc>
              <a:spcBef>
                <a:spcPts val="0"/>
              </a:spcBef>
              <a:spcAft>
                <a:spcPts val="0"/>
              </a:spcAft>
              <a:buClr>
                <a:schemeClr val="lt1"/>
              </a:buClr>
              <a:buSzPts val="1200"/>
              <a:buFont typeface="Calibri"/>
              <a:buChar char="●"/>
            </a:pPr>
            <a:r>
              <a:rPr b="1" lang="en" sz="1200">
                <a:solidFill>
                  <a:schemeClr val="lt1"/>
                </a:solidFill>
                <a:latin typeface="Calibri"/>
                <a:ea typeface="Calibri"/>
                <a:cs typeface="Calibri"/>
                <a:sym typeface="Calibri"/>
              </a:rPr>
              <a:t>Cluster 3:</a:t>
            </a:r>
            <a:r>
              <a:rPr lang="en" sz="1200">
                <a:solidFill>
                  <a:schemeClr val="lt1"/>
                </a:solidFill>
                <a:latin typeface="Calibri"/>
                <a:ea typeface="Calibri"/>
                <a:cs typeface="Calibri"/>
                <a:sym typeface="Calibri"/>
              </a:rPr>
              <a:t> </a:t>
            </a:r>
            <a:r>
              <a:rPr lang="en" sz="1200">
                <a:solidFill>
                  <a:schemeClr val="lt1"/>
                </a:solidFill>
                <a:latin typeface="Calibri"/>
                <a:ea typeface="Calibri"/>
                <a:cs typeface="Calibri"/>
                <a:sym typeface="Calibri"/>
              </a:rPr>
              <a:t>These customers are the youngest group with the lowest average income but the highest spending score.</a:t>
            </a:r>
            <a:endParaRPr sz="1200">
              <a:solidFill>
                <a:schemeClr val="lt1"/>
              </a:solidFill>
              <a:latin typeface="Calibri"/>
              <a:ea typeface="Calibri"/>
              <a:cs typeface="Calibri"/>
              <a:sym typeface="Calibri"/>
            </a:endParaRPr>
          </a:p>
          <a:p>
            <a:pPr indent="0" lvl="0" marL="0" rtl="0" algn="l">
              <a:lnSpc>
                <a:spcPct val="80000"/>
              </a:lnSpc>
              <a:spcBef>
                <a:spcPts val="0"/>
              </a:spcBef>
              <a:spcAft>
                <a:spcPts val="0"/>
              </a:spcAft>
              <a:buNone/>
            </a:pPr>
            <a:r>
              <a:t/>
            </a:r>
            <a:endParaRPr sz="1200">
              <a:solidFill>
                <a:schemeClr val="lt1"/>
              </a:solidFill>
              <a:latin typeface="Calibri"/>
              <a:ea typeface="Calibri"/>
              <a:cs typeface="Calibri"/>
              <a:sym typeface="Calibri"/>
            </a:endParaRPr>
          </a:p>
          <a:p>
            <a:pPr indent="0" lvl="0" marL="0" rtl="0" algn="l">
              <a:lnSpc>
                <a:spcPct val="80000"/>
              </a:lnSpc>
              <a:spcBef>
                <a:spcPts val="0"/>
              </a:spcBef>
              <a:spcAft>
                <a:spcPts val="0"/>
              </a:spcAft>
              <a:buNone/>
            </a:pPr>
            <a:r>
              <a:t/>
            </a:r>
            <a:endParaRPr b="1" sz="1200">
              <a:solidFill>
                <a:schemeClr val="lt1"/>
              </a:solidFill>
              <a:latin typeface="Calibri"/>
              <a:ea typeface="Calibri"/>
              <a:cs typeface="Calibri"/>
              <a:sym typeface="Calibri"/>
            </a:endParaRPr>
          </a:p>
        </p:txBody>
      </p:sp>
      <p:pic>
        <p:nvPicPr>
          <p:cNvPr id="381" name="Google Shape;381;p22" title="Screenshot 2026-07-30 194406.png"/>
          <p:cNvPicPr preferRelativeResize="0"/>
          <p:nvPr/>
        </p:nvPicPr>
        <p:blipFill>
          <a:blip r:embed="rId3">
            <a:alphaModFix/>
          </a:blip>
          <a:stretch>
            <a:fillRect/>
          </a:stretch>
        </p:blipFill>
        <p:spPr>
          <a:xfrm>
            <a:off x="304800" y="1299675"/>
            <a:ext cx="3940374" cy="291404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50000">
              <a:schemeClr val="lt2"/>
            </a:gs>
            <a:gs pos="100000">
              <a:srgbClr val="466363"/>
            </a:gs>
          </a:gsLst>
          <a:path path="circle">
            <a:fillToRect b="50%" l="50%" r="50%" t="50%"/>
          </a:path>
          <a:tileRect/>
        </a:gradFill>
      </p:bgPr>
    </p:bg>
    <p:spTree>
      <p:nvGrpSpPr>
        <p:cNvPr id="385" name="Shape 385"/>
        <p:cNvGrpSpPr/>
        <p:nvPr/>
      </p:nvGrpSpPr>
      <p:grpSpPr>
        <a:xfrm>
          <a:off x="0" y="0"/>
          <a:ext cx="0" cy="0"/>
          <a:chOff x="0" y="0"/>
          <a:chExt cx="0" cy="0"/>
        </a:xfrm>
      </p:grpSpPr>
      <p:sp>
        <p:nvSpPr>
          <p:cNvPr id="386" name="Google Shape;386;p23"/>
          <p:cNvSpPr txBox="1"/>
          <p:nvPr>
            <p:ph type="title"/>
          </p:nvPr>
        </p:nvSpPr>
        <p:spPr>
          <a:xfrm>
            <a:off x="637000" y="2278388"/>
            <a:ext cx="7617900" cy="558000"/>
          </a:xfrm>
          <a:prstGeom prst="rect">
            <a:avLst/>
          </a:prstGeom>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220">
                <a:solidFill>
                  <a:srgbClr val="496968"/>
                </a:solidFill>
              </a:rPr>
              <a:t>Interactive Streamlit Dashboard </a:t>
            </a:r>
            <a:endParaRPr sz="3220">
              <a:solidFill>
                <a:srgbClr val="496968"/>
              </a:solidFill>
            </a:endParaRPr>
          </a:p>
        </p:txBody>
      </p:sp>
      <p:pic>
        <p:nvPicPr>
          <p:cNvPr id="387" name="Google Shape;387;p23" title="Screenshot 2026-07-31 135331.png"/>
          <p:cNvPicPr preferRelativeResize="0"/>
          <p:nvPr/>
        </p:nvPicPr>
        <p:blipFill rotWithShape="1">
          <a:blip r:embed="rId3">
            <a:alphaModFix/>
          </a:blip>
          <a:srcRect b="22601" l="0" r="0" t="0"/>
          <a:stretch/>
        </p:blipFill>
        <p:spPr>
          <a:xfrm>
            <a:off x="637000" y="177113"/>
            <a:ext cx="3072726" cy="1931775"/>
          </a:xfrm>
          <a:prstGeom prst="rect">
            <a:avLst/>
          </a:prstGeom>
          <a:noFill/>
          <a:ln>
            <a:noFill/>
          </a:ln>
        </p:spPr>
      </p:pic>
      <p:pic>
        <p:nvPicPr>
          <p:cNvPr id="388" name="Google Shape;388;p23" title="Screenshot 2026-07-31 135350.png"/>
          <p:cNvPicPr preferRelativeResize="0"/>
          <p:nvPr/>
        </p:nvPicPr>
        <p:blipFill rotWithShape="1">
          <a:blip r:embed="rId4">
            <a:alphaModFix/>
          </a:blip>
          <a:srcRect b="15455" l="0" r="0" t="0"/>
          <a:stretch/>
        </p:blipFill>
        <p:spPr>
          <a:xfrm>
            <a:off x="5615300" y="3005925"/>
            <a:ext cx="3072700" cy="1931775"/>
          </a:xfrm>
          <a:prstGeom prst="rect">
            <a:avLst/>
          </a:prstGeom>
          <a:noFill/>
          <a:ln>
            <a:noFill/>
          </a:ln>
        </p:spPr>
      </p:pic>
      <p:pic>
        <p:nvPicPr>
          <p:cNvPr id="389" name="Google Shape;389;p23" title="Screenshot 2026-07-31 135406.png"/>
          <p:cNvPicPr preferRelativeResize="0"/>
          <p:nvPr/>
        </p:nvPicPr>
        <p:blipFill rotWithShape="1">
          <a:blip r:embed="rId5">
            <a:alphaModFix/>
          </a:blip>
          <a:srcRect b="14988" l="0" r="0" t="0"/>
          <a:stretch/>
        </p:blipFill>
        <p:spPr>
          <a:xfrm>
            <a:off x="5615300" y="177112"/>
            <a:ext cx="3072725" cy="1931775"/>
          </a:xfrm>
          <a:prstGeom prst="rect">
            <a:avLst/>
          </a:prstGeom>
          <a:noFill/>
          <a:ln>
            <a:noFill/>
          </a:ln>
        </p:spPr>
      </p:pic>
      <p:pic>
        <p:nvPicPr>
          <p:cNvPr id="390" name="Google Shape;390;p23" title="Screenshot 2026-07-31 135429.png"/>
          <p:cNvPicPr preferRelativeResize="0"/>
          <p:nvPr/>
        </p:nvPicPr>
        <p:blipFill rotWithShape="1">
          <a:blip r:embed="rId6">
            <a:alphaModFix/>
          </a:blip>
          <a:srcRect b="11489" l="0" r="0" t="0"/>
          <a:stretch/>
        </p:blipFill>
        <p:spPr>
          <a:xfrm>
            <a:off x="637000" y="3005925"/>
            <a:ext cx="3072725" cy="19317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ABDBD"/>
        </a:solidFill>
      </p:bgPr>
    </p:bg>
    <p:spTree>
      <p:nvGrpSpPr>
        <p:cNvPr id="394" name="Shape 394"/>
        <p:cNvGrpSpPr/>
        <p:nvPr/>
      </p:nvGrpSpPr>
      <p:grpSpPr>
        <a:xfrm>
          <a:off x="0" y="0"/>
          <a:ext cx="0" cy="0"/>
          <a:chOff x="0" y="0"/>
          <a:chExt cx="0" cy="0"/>
        </a:xfrm>
      </p:grpSpPr>
      <p:sp>
        <p:nvSpPr>
          <p:cNvPr id="395" name="Google Shape;395;p24"/>
          <p:cNvSpPr txBox="1"/>
          <p:nvPr>
            <p:ph type="title"/>
          </p:nvPr>
        </p:nvSpPr>
        <p:spPr>
          <a:xfrm>
            <a:off x="1106550" y="585000"/>
            <a:ext cx="2612400" cy="558000"/>
          </a:xfrm>
          <a:prstGeom prst="rect">
            <a:avLst/>
          </a:prstGeom>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220">
                <a:solidFill>
                  <a:schemeClr val="lt1"/>
                </a:solidFill>
              </a:rPr>
              <a:t>Key </a:t>
            </a:r>
            <a:r>
              <a:rPr lang="en" sz="3220">
                <a:solidFill>
                  <a:schemeClr val="lt1"/>
                </a:solidFill>
              </a:rPr>
              <a:t>Insights</a:t>
            </a:r>
            <a:endParaRPr sz="3220">
              <a:solidFill>
                <a:schemeClr val="lt1"/>
              </a:solidFill>
            </a:endParaRPr>
          </a:p>
        </p:txBody>
      </p:sp>
      <p:sp>
        <p:nvSpPr>
          <p:cNvPr id="396" name="Google Shape;396;p24"/>
          <p:cNvSpPr txBox="1"/>
          <p:nvPr/>
        </p:nvSpPr>
        <p:spPr>
          <a:xfrm>
            <a:off x="4924250" y="1293400"/>
            <a:ext cx="3793800" cy="3227400"/>
          </a:xfrm>
          <a:prstGeom prst="rect">
            <a:avLst/>
          </a:prstGeom>
          <a:noFill/>
          <a:ln>
            <a:noFill/>
          </a:ln>
        </p:spPr>
        <p:txBody>
          <a:bodyPr anchorCtr="0" anchor="t" bIns="91425" lIns="91425" spcFirstLastPara="1" rIns="91425" wrap="square" tIns="91425">
            <a:noAutofit/>
          </a:bodyPr>
          <a:lstStyle/>
          <a:p>
            <a:pPr indent="-323850" lvl="0" marL="457200" rtl="0" algn="l">
              <a:lnSpc>
                <a:spcPct val="80000"/>
              </a:lnSpc>
              <a:spcBef>
                <a:spcPts val="0"/>
              </a:spcBef>
              <a:spcAft>
                <a:spcPts val="0"/>
              </a:spcAft>
              <a:buClr>
                <a:schemeClr val="lt1"/>
              </a:buClr>
              <a:buSzPts val="1500"/>
              <a:buFont typeface="Calibri"/>
              <a:buChar char="●"/>
            </a:pPr>
            <a:r>
              <a:rPr b="1" lang="en" sz="1500">
                <a:solidFill>
                  <a:schemeClr val="lt1"/>
                </a:solidFill>
                <a:latin typeface="Calibri"/>
                <a:ea typeface="Calibri"/>
                <a:cs typeface="Calibri"/>
                <a:sym typeface="Calibri"/>
              </a:rPr>
              <a:t>For Cluster 0: </a:t>
            </a:r>
            <a:r>
              <a:rPr lang="en" sz="1500">
                <a:solidFill>
                  <a:schemeClr val="lt1"/>
                </a:solidFill>
                <a:latin typeface="Calibri"/>
                <a:ea typeface="Calibri"/>
                <a:cs typeface="Calibri"/>
                <a:sym typeface="Calibri"/>
              </a:rPr>
              <a:t>Encourage higher spending through personalized promotions, premium membership programs, and targeted discounts.</a:t>
            </a:r>
            <a:endParaRPr sz="1500">
              <a:solidFill>
                <a:schemeClr val="lt1"/>
              </a:solidFill>
              <a:latin typeface="Calibri"/>
              <a:ea typeface="Calibri"/>
              <a:cs typeface="Calibri"/>
              <a:sym typeface="Calibri"/>
            </a:endParaRPr>
          </a:p>
          <a:p>
            <a:pPr indent="-323850" lvl="0" marL="457200" rtl="0" algn="l">
              <a:lnSpc>
                <a:spcPct val="80000"/>
              </a:lnSpc>
              <a:spcBef>
                <a:spcPts val="0"/>
              </a:spcBef>
              <a:spcAft>
                <a:spcPts val="0"/>
              </a:spcAft>
              <a:buClr>
                <a:schemeClr val="lt1"/>
              </a:buClr>
              <a:buSzPts val="1500"/>
              <a:buFont typeface="Calibri"/>
              <a:buChar char="●"/>
            </a:pPr>
            <a:r>
              <a:rPr b="1" lang="en" sz="1500">
                <a:solidFill>
                  <a:schemeClr val="lt1"/>
                </a:solidFill>
                <a:latin typeface="Calibri"/>
                <a:ea typeface="Calibri"/>
                <a:cs typeface="Calibri"/>
                <a:sym typeface="Calibri"/>
              </a:rPr>
              <a:t>For Cluster 1: </a:t>
            </a:r>
            <a:r>
              <a:rPr lang="en" sz="1500">
                <a:solidFill>
                  <a:schemeClr val="lt1"/>
                </a:solidFill>
                <a:latin typeface="Calibri"/>
                <a:ea typeface="Calibri"/>
                <a:cs typeface="Calibri"/>
                <a:sym typeface="Calibri"/>
              </a:rPr>
              <a:t>Maintain customer engagement using loyalty programs, seasonal offers, and personalized product recommendations.</a:t>
            </a:r>
            <a:endParaRPr sz="1500">
              <a:solidFill>
                <a:schemeClr val="lt1"/>
              </a:solidFill>
              <a:latin typeface="Calibri"/>
              <a:ea typeface="Calibri"/>
              <a:cs typeface="Calibri"/>
              <a:sym typeface="Calibri"/>
            </a:endParaRPr>
          </a:p>
          <a:p>
            <a:pPr indent="-323850" lvl="0" marL="457200" rtl="0" algn="l">
              <a:lnSpc>
                <a:spcPct val="80000"/>
              </a:lnSpc>
              <a:spcBef>
                <a:spcPts val="0"/>
              </a:spcBef>
              <a:spcAft>
                <a:spcPts val="0"/>
              </a:spcAft>
              <a:buClr>
                <a:schemeClr val="lt1"/>
              </a:buClr>
              <a:buSzPts val="1500"/>
              <a:buFont typeface="Calibri"/>
              <a:buChar char="●"/>
            </a:pPr>
            <a:r>
              <a:rPr b="1" lang="en" sz="1500">
                <a:solidFill>
                  <a:schemeClr val="lt1"/>
                </a:solidFill>
                <a:latin typeface="Calibri"/>
                <a:ea typeface="Calibri"/>
                <a:cs typeface="Calibri"/>
                <a:sym typeface="Calibri"/>
              </a:rPr>
              <a:t>For Cluster 2: </a:t>
            </a:r>
            <a:r>
              <a:rPr lang="en" sz="1500">
                <a:solidFill>
                  <a:schemeClr val="lt1"/>
                </a:solidFill>
                <a:latin typeface="Calibri"/>
                <a:ea typeface="Calibri"/>
                <a:cs typeface="Calibri"/>
                <a:sym typeface="Calibri"/>
              </a:rPr>
              <a:t>Develop exclusive offers, premium experiences, and individualized marketing campaigns to increase purchasing activity.</a:t>
            </a:r>
            <a:endParaRPr sz="1500">
              <a:solidFill>
                <a:schemeClr val="lt1"/>
              </a:solidFill>
              <a:latin typeface="Calibri"/>
              <a:ea typeface="Calibri"/>
              <a:cs typeface="Calibri"/>
              <a:sym typeface="Calibri"/>
            </a:endParaRPr>
          </a:p>
          <a:p>
            <a:pPr indent="-323850" lvl="0" marL="457200" rtl="0" algn="l">
              <a:lnSpc>
                <a:spcPct val="80000"/>
              </a:lnSpc>
              <a:spcBef>
                <a:spcPts val="0"/>
              </a:spcBef>
              <a:spcAft>
                <a:spcPts val="0"/>
              </a:spcAft>
              <a:buClr>
                <a:schemeClr val="lt1"/>
              </a:buClr>
              <a:buSzPts val="1500"/>
              <a:buFont typeface="Calibri"/>
              <a:buChar char="●"/>
            </a:pPr>
            <a:r>
              <a:rPr b="1" lang="en" sz="1500">
                <a:solidFill>
                  <a:schemeClr val="lt1"/>
                </a:solidFill>
                <a:latin typeface="Calibri"/>
                <a:ea typeface="Calibri"/>
                <a:cs typeface="Calibri"/>
                <a:sym typeface="Calibri"/>
              </a:rPr>
              <a:t>For Cluster 3: </a:t>
            </a:r>
            <a:r>
              <a:rPr lang="en" sz="1500">
                <a:solidFill>
                  <a:schemeClr val="lt1"/>
                </a:solidFill>
                <a:latin typeface="Calibri"/>
                <a:ea typeface="Calibri"/>
                <a:cs typeface="Calibri"/>
                <a:sym typeface="Calibri"/>
              </a:rPr>
              <a:t>Reward loyal customers with discounts, referral programs, and products tailored to younger consumers. </a:t>
            </a:r>
            <a:endParaRPr sz="1500">
              <a:solidFill>
                <a:schemeClr val="lt1"/>
              </a:solidFill>
              <a:latin typeface="Calibri"/>
              <a:ea typeface="Calibri"/>
              <a:cs typeface="Calibri"/>
              <a:sym typeface="Calibri"/>
            </a:endParaRPr>
          </a:p>
        </p:txBody>
      </p:sp>
      <p:sp>
        <p:nvSpPr>
          <p:cNvPr id="397" name="Google Shape;397;p24"/>
          <p:cNvSpPr txBox="1"/>
          <p:nvPr/>
        </p:nvSpPr>
        <p:spPr>
          <a:xfrm>
            <a:off x="5030800" y="540750"/>
            <a:ext cx="36873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200">
                <a:solidFill>
                  <a:schemeClr val="lt1"/>
                </a:solidFill>
                <a:latin typeface="Maven Pro"/>
                <a:ea typeface="Maven Pro"/>
                <a:cs typeface="Maven Pro"/>
                <a:sym typeface="Maven Pro"/>
              </a:rPr>
              <a:t>Business Ideas</a:t>
            </a:r>
            <a:endParaRPr b="1" sz="3200">
              <a:solidFill>
                <a:schemeClr val="lt1"/>
              </a:solidFill>
              <a:latin typeface="Maven Pro"/>
              <a:ea typeface="Maven Pro"/>
              <a:cs typeface="Maven Pro"/>
              <a:sym typeface="Maven Pro"/>
            </a:endParaRPr>
          </a:p>
        </p:txBody>
      </p:sp>
      <p:sp>
        <p:nvSpPr>
          <p:cNvPr id="398" name="Google Shape;398;p24"/>
          <p:cNvSpPr txBox="1"/>
          <p:nvPr/>
        </p:nvSpPr>
        <p:spPr>
          <a:xfrm>
            <a:off x="478950" y="1293400"/>
            <a:ext cx="3867600" cy="3227400"/>
          </a:xfrm>
          <a:prstGeom prst="rect">
            <a:avLst/>
          </a:prstGeom>
          <a:noFill/>
          <a:ln>
            <a:noFill/>
          </a:ln>
        </p:spPr>
        <p:txBody>
          <a:bodyPr anchorCtr="0" anchor="t" bIns="91425" lIns="91425" spcFirstLastPara="1" rIns="91425" wrap="square" tIns="91425">
            <a:noAutofit/>
          </a:bodyPr>
          <a:lstStyle/>
          <a:p>
            <a:pPr indent="-323850" lvl="0" marL="457200" rtl="0" algn="l">
              <a:lnSpc>
                <a:spcPct val="80000"/>
              </a:lnSpc>
              <a:spcBef>
                <a:spcPts val="0"/>
              </a:spcBef>
              <a:spcAft>
                <a:spcPts val="0"/>
              </a:spcAft>
              <a:buClr>
                <a:schemeClr val="lt1"/>
              </a:buClr>
              <a:buSzPts val="1500"/>
              <a:buFont typeface="Calibri"/>
              <a:buChar char="●"/>
            </a:pPr>
            <a:r>
              <a:rPr b="1" lang="en" sz="1500">
                <a:solidFill>
                  <a:schemeClr val="lt1"/>
                </a:solidFill>
                <a:latin typeface="Calibri"/>
                <a:ea typeface="Calibri"/>
                <a:cs typeface="Calibri"/>
                <a:sym typeface="Calibri"/>
              </a:rPr>
              <a:t>The K-Means algorithm successfully divided customers into four distinct segments based on annual income and spending behaviour.</a:t>
            </a:r>
            <a:endParaRPr b="1" sz="1500">
              <a:solidFill>
                <a:schemeClr val="lt1"/>
              </a:solidFill>
              <a:latin typeface="Calibri"/>
              <a:ea typeface="Calibri"/>
              <a:cs typeface="Calibri"/>
              <a:sym typeface="Calibri"/>
            </a:endParaRPr>
          </a:p>
          <a:p>
            <a:pPr indent="-323850" lvl="0" marL="457200" rtl="0" algn="l">
              <a:lnSpc>
                <a:spcPct val="80000"/>
              </a:lnSpc>
              <a:spcBef>
                <a:spcPts val="0"/>
              </a:spcBef>
              <a:spcAft>
                <a:spcPts val="0"/>
              </a:spcAft>
              <a:buClr>
                <a:schemeClr val="lt1"/>
              </a:buClr>
              <a:buSzPts val="1500"/>
              <a:buFont typeface="Calibri"/>
              <a:buChar char="●"/>
            </a:pPr>
            <a:r>
              <a:rPr b="1" lang="en" sz="1500">
                <a:solidFill>
                  <a:schemeClr val="lt1"/>
                </a:solidFill>
                <a:latin typeface="Calibri"/>
                <a:ea typeface="Calibri"/>
                <a:cs typeface="Calibri"/>
                <a:sym typeface="Calibri"/>
              </a:rPr>
              <a:t>Younger customers generally exhibited higher spending scores than older customers.</a:t>
            </a:r>
            <a:endParaRPr b="1" sz="1500">
              <a:solidFill>
                <a:schemeClr val="lt1"/>
              </a:solidFill>
              <a:latin typeface="Calibri"/>
              <a:ea typeface="Calibri"/>
              <a:cs typeface="Calibri"/>
              <a:sym typeface="Calibri"/>
            </a:endParaRPr>
          </a:p>
          <a:p>
            <a:pPr indent="-323850" lvl="0" marL="457200" rtl="0" algn="l">
              <a:lnSpc>
                <a:spcPct val="80000"/>
              </a:lnSpc>
              <a:spcBef>
                <a:spcPts val="0"/>
              </a:spcBef>
              <a:spcAft>
                <a:spcPts val="0"/>
              </a:spcAft>
              <a:buClr>
                <a:schemeClr val="lt1"/>
              </a:buClr>
              <a:buSzPts val="1500"/>
              <a:buFont typeface="Calibri"/>
              <a:buChar char="●"/>
            </a:pPr>
            <a:r>
              <a:rPr b="1" lang="en" sz="1500">
                <a:solidFill>
                  <a:schemeClr val="lt1"/>
                </a:solidFill>
                <a:latin typeface="Calibri"/>
                <a:ea typeface="Calibri"/>
                <a:cs typeface="Calibri"/>
                <a:sym typeface="Calibri"/>
              </a:rPr>
              <a:t>Customers with high annual incomes did not necessarily spend more, indicating untapped market potential. </a:t>
            </a:r>
            <a:endParaRPr b="1" sz="1500">
              <a:solidFill>
                <a:schemeClr val="lt1"/>
              </a:solidFill>
              <a:latin typeface="Calibri"/>
              <a:ea typeface="Calibri"/>
              <a:cs typeface="Calibri"/>
              <a:sym typeface="Calibri"/>
            </a:endParaRPr>
          </a:p>
          <a:p>
            <a:pPr indent="-323850" lvl="0" marL="457200" rtl="0" algn="l">
              <a:lnSpc>
                <a:spcPct val="80000"/>
              </a:lnSpc>
              <a:spcBef>
                <a:spcPts val="0"/>
              </a:spcBef>
              <a:spcAft>
                <a:spcPts val="0"/>
              </a:spcAft>
              <a:buClr>
                <a:schemeClr val="lt1"/>
              </a:buClr>
              <a:buSzPts val="1500"/>
              <a:buFont typeface="Calibri"/>
              <a:buChar char="●"/>
            </a:pPr>
            <a:r>
              <a:rPr b="1" lang="en" sz="1500">
                <a:solidFill>
                  <a:schemeClr val="lt1"/>
                </a:solidFill>
                <a:latin typeface="Calibri"/>
                <a:ea typeface="Calibri"/>
                <a:cs typeface="Calibri"/>
                <a:sym typeface="Calibri"/>
              </a:rPr>
              <a:t>Gender did not show a significant influence on spending behaviour.</a:t>
            </a:r>
            <a:endParaRPr b="1" sz="1500">
              <a:solidFill>
                <a:schemeClr val="lt1"/>
              </a:solidFill>
              <a:latin typeface="Calibri"/>
              <a:ea typeface="Calibri"/>
              <a:cs typeface="Calibri"/>
              <a:sym typeface="Calibri"/>
            </a:endParaRPr>
          </a:p>
          <a:p>
            <a:pPr indent="-323850" lvl="0" marL="457200" rtl="0" algn="l">
              <a:lnSpc>
                <a:spcPct val="80000"/>
              </a:lnSpc>
              <a:spcBef>
                <a:spcPts val="0"/>
              </a:spcBef>
              <a:spcAft>
                <a:spcPts val="0"/>
              </a:spcAft>
              <a:buClr>
                <a:schemeClr val="lt1"/>
              </a:buClr>
              <a:buSzPts val="1500"/>
              <a:buFont typeface="Calibri"/>
              <a:buChar char="●"/>
            </a:pPr>
            <a:r>
              <a:rPr b="1" lang="en" sz="1500">
                <a:solidFill>
                  <a:schemeClr val="lt1"/>
                </a:solidFill>
                <a:latin typeface="Calibri"/>
                <a:ea typeface="Calibri"/>
                <a:cs typeface="Calibri"/>
                <a:sym typeface="Calibri"/>
              </a:rPr>
              <a:t>Customer segmentation enables businesses to understand purchasing patterns and tailor marketing strategies accordingly.</a:t>
            </a:r>
            <a:endParaRPr b="1" sz="1500">
              <a:solidFill>
                <a:schemeClr val="lt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ABDBD"/>
        </a:solidFill>
      </p:bgPr>
    </p:bg>
    <p:spTree>
      <p:nvGrpSpPr>
        <p:cNvPr id="402" name="Shape 402"/>
        <p:cNvGrpSpPr/>
        <p:nvPr/>
      </p:nvGrpSpPr>
      <p:grpSpPr>
        <a:xfrm>
          <a:off x="0" y="0"/>
          <a:ext cx="0" cy="0"/>
          <a:chOff x="0" y="0"/>
          <a:chExt cx="0" cy="0"/>
        </a:xfrm>
      </p:grpSpPr>
      <p:sp>
        <p:nvSpPr>
          <p:cNvPr id="403" name="Google Shape;403;p25"/>
          <p:cNvSpPr txBox="1"/>
          <p:nvPr>
            <p:ph type="title"/>
          </p:nvPr>
        </p:nvSpPr>
        <p:spPr>
          <a:xfrm>
            <a:off x="1227125" y="447975"/>
            <a:ext cx="6657300" cy="1104300"/>
          </a:xfrm>
          <a:prstGeom prst="rect">
            <a:avLst/>
          </a:prstGeom>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4720">
                <a:solidFill>
                  <a:schemeClr val="lt1"/>
                </a:solidFill>
              </a:rPr>
              <a:t>Conclusion</a:t>
            </a:r>
            <a:endParaRPr sz="4720">
              <a:solidFill>
                <a:schemeClr val="lt1"/>
              </a:solidFill>
            </a:endParaRPr>
          </a:p>
        </p:txBody>
      </p:sp>
      <p:sp>
        <p:nvSpPr>
          <p:cNvPr id="404" name="Google Shape;404;p25"/>
          <p:cNvSpPr txBox="1"/>
          <p:nvPr/>
        </p:nvSpPr>
        <p:spPr>
          <a:xfrm>
            <a:off x="880625" y="1552275"/>
            <a:ext cx="7350300" cy="2968500"/>
          </a:xfrm>
          <a:prstGeom prst="rect">
            <a:avLst/>
          </a:prstGeom>
          <a:noFill/>
          <a:ln>
            <a:noFill/>
          </a:ln>
        </p:spPr>
        <p:txBody>
          <a:bodyPr anchorCtr="0" anchor="t" bIns="91425" lIns="91425" spcFirstLastPara="1" rIns="91425" wrap="square" tIns="91425">
            <a:noAutofit/>
          </a:bodyPr>
          <a:lstStyle/>
          <a:p>
            <a:pPr indent="0" lvl="0" marL="381000" marR="381000" rtl="0" algn="l">
              <a:lnSpc>
                <a:spcPct val="80000"/>
              </a:lnSpc>
              <a:spcBef>
                <a:spcPts val="1200"/>
              </a:spcBef>
              <a:spcAft>
                <a:spcPts val="0"/>
              </a:spcAft>
              <a:buNone/>
            </a:pPr>
            <a:r>
              <a:rPr b="1" lang="en" sz="1500">
                <a:solidFill>
                  <a:schemeClr val="lt1"/>
                </a:solidFill>
                <a:latin typeface="Calibri"/>
                <a:ea typeface="Calibri"/>
                <a:cs typeface="Calibri"/>
                <a:sym typeface="Calibri"/>
              </a:rPr>
              <a:t>This project successfully demonstrated the application of the K-Means clustering algorithm for customer segmentation by analyzing customer purchasing behaviour using annual income and spending score. Through systematic data preprocessing, exploratory data analysis, clustering, and model evaluation, four meaningful customer segments were identified. The development of an interactive Streamlit dashboard further enhanced the usability of the project by providing an intuitive platform for visualizing customer segments and deriving actionable business insights. </a:t>
            </a:r>
            <a:endParaRPr b="1" sz="1500">
              <a:solidFill>
                <a:schemeClr val="lt1"/>
              </a:solidFill>
              <a:latin typeface="Calibri"/>
              <a:ea typeface="Calibri"/>
              <a:cs typeface="Calibri"/>
              <a:sym typeface="Calibri"/>
            </a:endParaRPr>
          </a:p>
          <a:p>
            <a:pPr indent="0" lvl="0" marL="381000" marR="381000" rtl="0" algn="l">
              <a:lnSpc>
                <a:spcPct val="80000"/>
              </a:lnSpc>
              <a:spcBef>
                <a:spcPts val="1200"/>
              </a:spcBef>
              <a:spcAft>
                <a:spcPts val="0"/>
              </a:spcAft>
              <a:buNone/>
            </a:pPr>
            <a:r>
              <a:rPr b="1" lang="en" sz="1500">
                <a:solidFill>
                  <a:schemeClr val="lt1"/>
                </a:solidFill>
                <a:latin typeface="Calibri"/>
                <a:ea typeface="Calibri"/>
                <a:cs typeface="Calibri"/>
                <a:sym typeface="Calibri"/>
              </a:rPr>
              <a:t>While the results are promising, there is considerable scope for future enhancement. The model can be improved by incorporating larger and more diverse datasets, additional customer attributes such as purchase history and demographic information, and advanced clustering techniques like DBSCAN, Hierarchical Clustering, or Gaussian Mixture Models. Integrating real-time data processing and predictive analytics could further strengthen the system, making it a more robust and scalable solution for practical business applications.</a:t>
            </a:r>
            <a:endParaRPr b="1" sz="1500">
              <a:solidFill>
                <a:schemeClr val="lt1"/>
              </a:solidFill>
              <a:latin typeface="Calibri"/>
              <a:ea typeface="Calibri"/>
              <a:cs typeface="Calibri"/>
              <a:sym typeface="Calibri"/>
            </a:endParaRPr>
          </a:p>
          <a:p>
            <a:pPr indent="0" lvl="0" marL="0" rtl="0" algn="l">
              <a:lnSpc>
                <a:spcPct val="80000"/>
              </a:lnSpc>
              <a:spcBef>
                <a:spcPts val="1200"/>
              </a:spcBef>
              <a:spcAft>
                <a:spcPts val="1200"/>
              </a:spcAft>
              <a:buNone/>
            </a:pPr>
            <a:r>
              <a:t/>
            </a:r>
            <a:endParaRPr b="1" sz="1500">
              <a:solidFill>
                <a:schemeClr val="lt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50000">
              <a:schemeClr val="lt2"/>
            </a:gs>
            <a:gs pos="100000">
              <a:srgbClr val="466363"/>
            </a:gs>
          </a:gsLst>
          <a:path path="circle">
            <a:fillToRect b="50%" l="50%" r="50%" t="50%"/>
          </a:path>
          <a:tileRect/>
        </a:gradFill>
      </p:bgPr>
    </p:bg>
    <p:spTree>
      <p:nvGrpSpPr>
        <p:cNvPr id="408" name="Shape 408"/>
        <p:cNvGrpSpPr/>
        <p:nvPr/>
      </p:nvGrpSpPr>
      <p:grpSpPr>
        <a:xfrm>
          <a:off x="0" y="0"/>
          <a:ext cx="0" cy="0"/>
          <a:chOff x="0" y="0"/>
          <a:chExt cx="0" cy="0"/>
        </a:xfrm>
      </p:grpSpPr>
      <p:sp>
        <p:nvSpPr>
          <p:cNvPr id="409" name="Google Shape;409;p26"/>
          <p:cNvSpPr txBox="1"/>
          <p:nvPr>
            <p:ph type="title"/>
          </p:nvPr>
        </p:nvSpPr>
        <p:spPr>
          <a:xfrm>
            <a:off x="637000" y="2278388"/>
            <a:ext cx="7617900" cy="558000"/>
          </a:xfrm>
          <a:prstGeom prst="rect">
            <a:avLst/>
          </a:prstGeom>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220">
                <a:solidFill>
                  <a:srgbClr val="496968"/>
                </a:solidFill>
              </a:rPr>
              <a:t>Thank You!</a:t>
            </a:r>
            <a:endParaRPr sz="3220">
              <a:solidFill>
                <a:srgbClr val="496968"/>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